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300" b="1">
                <a:solidFill>
                  <a:srgbClr val="1E293B"/>
                </a:solidFill>
                <a:latin typeface="Segoe UI"/>
              </a:rPr>
              <a:t>Inventory Value by Category</a:t>
            </a:r>
          </a:p>
        </c:rich>
      </c:tx>
      <c:layout/>
      <c:overlay val="0"/>
    </c:title>
    <c:autoTitleDeleted val="0"/>
    <c:plotArea>
      <c:layout/>
      <c:doughnutChart>
        <c:varyColors val="1"/>
        <c:ser>
          <c:idx val="0"/>
          <c:order val="0"/>
          <c:tx>
            <c:strRef>
              <c:f>Sheet1!$B$1</c:f>
              <c:strCache>
                <c:ptCount val="1"/>
                <c:pt idx="0">
                  <c:v>Inventory Value by Category</c:v>
                </c:pt>
              </c:strCache>
            </c:strRef>
          </c:tx>
          <c:dPt>
            <c:idx val="0"/>
            <c:spPr>
              <a:solidFill>
                <a:srgbClr val="0D9488"/>
              </a:solidFill>
              <a:ln w="19050">
                <a:solidFill>
                  <a:srgbClr val="FFFFFF"/>
                </a:solidFill>
              </a:ln>
            </c:spPr>
          </c:dPt>
          <c:dPt>
            <c:idx val="1"/>
            <c:spPr>
              <a:solidFill>
                <a:srgbClr val="1E293B"/>
              </a:solidFill>
              <a:ln w="19050">
                <a:solidFill>
                  <a:srgbClr val="FFFFFF"/>
                </a:solidFill>
              </a:ln>
            </c:spPr>
          </c:dPt>
          <c:dPt>
            <c:idx val="2"/>
            <c:spPr>
              <a:solidFill>
                <a:srgbClr val="38BDF8"/>
              </a:solidFill>
              <a:ln w="19050">
                <a:solidFill>
                  <a:srgbClr val="FFFFFF"/>
                </a:solidFill>
              </a:ln>
            </c:spPr>
          </c:dPt>
          <c:dPt>
            <c:idx val="3"/>
            <c:spPr>
              <a:solidFill>
                <a:srgbClr val="F59E0B"/>
              </a:solidFill>
              <a:ln w="19050">
                <a:solidFill>
                  <a:srgbClr val="FFFFFF"/>
                </a:solidFill>
              </a:ln>
            </c:spPr>
          </c:dPt>
          <c:dPt>
            <c:idx val="4"/>
            <c:spPr>
              <a:solidFill>
                <a:srgbClr val="8B5CF6"/>
              </a:solidFill>
              <a:ln w="19050">
                <a:solidFill>
                  <a:srgbClr val="FFFFFF"/>
                </a:solidFill>
              </a:ln>
            </c:spPr>
          </c:dPt>
          <c:dPt>
            <c:idx val="5"/>
            <c:spPr>
              <a:solidFill>
                <a:srgbClr val="EC4899"/>
              </a:solidFill>
              <a:ln w="19050">
                <a:solidFill>
                  <a:srgbClr val="FFFFFF"/>
                </a:solidFill>
              </a:ln>
            </c:spPr>
          </c:dPt>
          <c:cat>
            <c:strRef>
              <c:f>Sheet1!$A$2:$A$7</c:f>
              <c:strCache>
                <c:ptCount val="6"/>
                <c:pt idx="0">
                  <c:v>Groceries &amp; Staples</c:v>
                </c:pt>
                <c:pt idx="1">
                  <c:v>Beverages</c:v>
                </c:pt>
                <c:pt idx="2">
                  <c:v>Personal Care</c:v>
                </c:pt>
                <c:pt idx="3">
                  <c:v>Household &amp; Cleaning</c:v>
                </c:pt>
                <c:pt idx="4">
                  <c:v>Stationery</c:v>
                </c:pt>
                <c:pt idx="5">
                  <c:v>Electronics &amp; Accessories</c:v>
                </c:pt>
              </c:strCache>
            </c:strRef>
          </c:cat>
          <c:val>
            <c:numRef>
              <c:f>Sheet1!$B$2:$B$7</c:f>
              <c:numCache>
                <c:formatCode>General</c:formatCode>
                <c:ptCount val="6"/>
                <c:pt idx="0">
                  <c:v>47370.0</c:v>
                </c:pt>
                <c:pt idx="1">
                  <c:v>17130.0</c:v>
                </c:pt>
                <c:pt idx="2">
                  <c:v>17615.0</c:v>
                </c:pt>
                <c:pt idx="3">
                  <c:v>15738.0</c:v>
                </c:pt>
                <c:pt idx="4">
                  <c:v>25890.0</c:v>
                </c:pt>
                <c:pt idx="5">
                  <c:v>21488.0</c:v>
                </c:pt>
              </c:numCache>
            </c:numRef>
          </c:val>
        </c:ser>
        <c:firstSliceAng val="0"/>
        <c:holeSize val="50"/>
      </c:doughnutChart>
    </c:plotArea>
    <c:legend>
      <c:legendPos/>
      <c:layout/>
      <c:overlay val="0"/>
      <c:txPr>
        <a:bodyPr/>
        <a:lstStyle/>
        <a:p>
          <a:pPr>
            <a:defRPr sz="950">
              <a:solidFill>
                <a:srgbClr val="475569"/>
              </a:solidFill>
              <a:latin typeface="Segoe UI"/>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E293B"/>
                </a:solidFill>
                <a:latin typeface="Segoe UI"/>
              </a:rPr>
              <a:t>Units in Stock by Category</a:t>
            </a:r>
          </a:p>
        </c:rich>
      </c:tx>
      <c:layout/>
      <c:overlay val="0"/>
    </c:title>
    <c:autoTitleDeleted val="0"/>
    <c:plotArea>
      <c:barChart>
        <c:barDir val="col"/>
        <c:grouping val="clustered"/>
        <c:ser>
          <c:idx val="0"/>
          <c:order val="0"/>
          <c:tx>
            <c:strRef>
              <c:f>Sheet1!$B$1</c:f>
              <c:strCache>
                <c:ptCount val="1"/>
                <c:pt idx="0">
                  <c:v>Units in Stock by Category</c:v>
                </c:pt>
              </c:strCache>
            </c:strRef>
          </c:tx>
          <c:spPr>
            <a:solidFill>
              <a:srgbClr val="0D9488"/>
            </a:solidFill>
            <a:ln>
              <a:noFill/>
            </a:ln>
          </c:spPr>
          <c:cat>
            <c:strRef>
              <c:f>Sheet1!$A$2:$A$7</c:f>
              <c:strCache>
                <c:ptCount val="6"/>
                <c:pt idx="0">
                  <c:v>Groceries &amp; Staples</c:v>
                </c:pt>
                <c:pt idx="1">
                  <c:v>Beverages</c:v>
                </c:pt>
                <c:pt idx="2">
                  <c:v>Personal Care</c:v>
                </c:pt>
                <c:pt idx="3">
                  <c:v>Household &amp; Cleaning</c:v>
                </c:pt>
                <c:pt idx="4">
                  <c:v>Stationery</c:v>
                </c:pt>
                <c:pt idx="5">
                  <c:v>Electronics &amp; Accessories</c:v>
                </c:pt>
              </c:strCache>
            </c:strRef>
          </c:cat>
          <c:val>
            <c:numRef>
              <c:f>Sheet1!$B$2:$B$7</c:f>
              <c:numCache>
                <c:formatCode>General</c:formatCode>
                <c:ptCount val="6"/>
                <c:pt idx="0">
                  <c:v>255</c:v>
                </c:pt>
                <c:pt idx="1">
                  <c:v>160</c:v>
                </c:pt>
                <c:pt idx="2">
                  <c:v>131</c:v>
                </c:pt>
                <c:pt idx="3">
                  <c:v>217</c:v>
                </c:pt>
                <c:pt idx="4">
                  <c:v>271</c:v>
                </c:pt>
                <c:pt idx="5">
                  <c:v>125</c:v>
                </c:pt>
              </c:numCache>
            </c:numRef>
          </c:val>
        </c:ser>
        <c:dLbls>
          <c:numFmt formatCode="#,##0" sourceLinked="0"/>
          <c:txPr>
            <a:bodyPr/>
            <a:lstStyle/>
            <a:p>
              <a:pPr>
                <a:defRPr sz="950">
                  <a:solidFill>
                    <a:srgbClr val="1E293B"/>
                  </a:solidFill>
                  <a:latin typeface="Segoe UI"/>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950">
                <a:solidFill>
                  <a:srgbClr val="475569"/>
                </a:solidFill>
                <a:latin typeface="Segoe UI"/>
              </a:defRPr>
            </a:pPr>
          </a:p>
        </c:txPr>
        <c:crossAx val="-2113994440"/>
        <c:crosses val="autoZero"/>
        <c:auto val="1"/>
        <c:lblAlgn val="ctr"/>
        <c:lblOffset val="100"/>
        <c:noMultiLvlLbl val="0"/>
      </c:catAx>
      <c:valAx>
        <c:axId val="-2113994440"/>
        <c:scaling/>
        <c:delete val="0"/>
        <c:axPos val="l"/>
        <c:majorGridlines>
          <c:spPr>
            <a:ln w="6350">
              <a:solidFill>
                <a:srgbClr val="E2E8F0"/>
              </a:solidFill>
            </a:ln>
          </c:spPr>
        </c:majorGridlines>
        <c:majorTickMark val="out"/>
        <c:minorTickMark val="none"/>
        <c:tickLblPos val="nextTo"/>
        <c:spPr>
          <a:ln>
            <a:noFill/>
          </a:ln>
        </c:spPr>
        <c:txPr>
          <a:bodyPr/>
          <a:lstStyle/>
          <a:p>
            <a:pPr>
              <a:defRPr sz="900">
                <a:solidFill>
                  <a:srgbClr val="475569"/>
                </a:solidFill>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E293B"/>
                </a:solidFill>
                <a:latin typeface="Segoe UI"/>
              </a:rPr>
              <a:t>Stock Status (Products)</a:t>
            </a:r>
          </a:p>
        </c:rich>
      </c:tx>
      <c:layout/>
      <c:overlay val="0"/>
    </c:title>
    <c:autoTitleDeleted val="0"/>
    <c:plotArea>
      <c:barChart>
        <c:barDir val="col"/>
        <c:grouping val="clustered"/>
        <c:ser>
          <c:idx val="0"/>
          <c:order val="0"/>
          <c:tx>
            <c:strRef>
              <c:f>Sheet1!$B$1</c:f>
              <c:strCache>
                <c:ptCount val="1"/>
                <c:pt idx="0">
                  <c:v>Stock Status (Products)</c:v>
                </c:pt>
              </c:strCache>
            </c:strRef>
          </c:tx>
          <c:spPr>
            <a:ln>
              <a:noFill/>
            </a:ln>
          </c:spPr>
          <c:dPt>
            <c:idx val="0"/>
            <c:spPr>
              <a:solidFill>
                <a:srgbClr val="16A34A"/>
              </a:solidFill>
            </c:spPr>
          </c:dPt>
          <c:dPt>
            <c:idx val="1"/>
            <c:spPr>
              <a:solidFill>
                <a:srgbClr val="D97706"/>
              </a:solidFill>
            </c:spPr>
          </c:dPt>
          <c:dPt>
            <c:idx val="2"/>
            <c:spPr>
              <a:solidFill>
                <a:srgbClr val="DC2626"/>
              </a:solidFill>
            </c:spPr>
          </c:dPt>
          <c:cat>
            <c:strRef>
              <c:f>Sheet1!$A$2:$A$4</c:f>
              <c:strCache>
                <c:ptCount val="3"/>
                <c:pt idx="0">
                  <c:v>OK</c:v>
                </c:pt>
                <c:pt idx="1">
                  <c:v>Low</c:v>
                </c:pt>
                <c:pt idx="2">
                  <c:v>Out</c:v>
                </c:pt>
              </c:strCache>
            </c:strRef>
          </c:cat>
          <c:val>
            <c:numRef>
              <c:f>Sheet1!$B$2:$B$4</c:f>
              <c:numCache>
                <c:formatCode>General</c:formatCode>
                <c:ptCount val="3"/>
                <c:pt idx="0">
                  <c:v>22</c:v>
                </c:pt>
                <c:pt idx="1">
                  <c:v>6</c:v>
                </c:pt>
                <c:pt idx="2">
                  <c:v>2</c:v>
                </c:pt>
              </c:numCache>
            </c:numRef>
          </c:val>
        </c:ser>
        <c:dLbls>
          <c:numFmt formatCode="#,##0" sourceLinked="0"/>
          <c:txPr>
            <a:bodyPr/>
            <a:lstStyle/>
            <a:p>
              <a:pPr>
                <a:defRPr sz="1100" b="1">
                  <a:solidFill>
                    <a:srgbClr val="1E293B"/>
                  </a:solidFill>
                  <a:latin typeface="Segoe UI"/>
                </a:defRPr>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050" b="1">
                <a:solidFill>
                  <a:srgbClr val="475569"/>
                </a:solidFill>
                <a:latin typeface="Segoe UI"/>
              </a:defRPr>
            </a:pPr>
          </a:p>
        </c:txPr>
        <c:crossAx val="-2113994440"/>
        <c:crosses val="autoZero"/>
        <c:auto val="1"/>
        <c:lblAlgn val="ctr"/>
        <c:lblOffset val="100"/>
        <c:noMultiLvlLbl val="0"/>
      </c:catAx>
      <c:valAx>
        <c:axId val="-2113994440"/>
        <c:scaling/>
        <c:delete val="0"/>
        <c:axPos val="l"/>
        <c:majorGridlines>
          <c:spPr>
            <a:ln w="6350">
              <a:solidFill>
                <a:srgbClr val="E2E8F0"/>
              </a:solidFill>
            </a:ln>
          </c:spPr>
        </c:majorGridlines>
        <c:majorTickMark val="out"/>
        <c:minorTickMark val="none"/>
        <c:tickLblPos val="nextTo"/>
        <c:spPr>
          <a:ln>
            <a:noFill/>
          </a:ln>
        </c:spPr>
        <c:txPr>
          <a:bodyPr/>
          <a:lstStyle/>
          <a:p>
            <a:pPr>
              <a:defRPr sz="900">
                <a:solidFill>
                  <a:srgbClr val="475569"/>
                </a:solidFill>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300" b="1">
                <a:solidFill>
                  <a:srgbClr val="1E293B"/>
                </a:solidFill>
                <a:latin typeface="Segoe UI"/>
              </a:rPr>
              <a:t>Test Outcomes</a:t>
            </a:r>
          </a:p>
        </c:rich>
      </c:tx>
      <c:layout/>
      <c:overlay val="0"/>
    </c:title>
    <c:autoTitleDeleted val="0"/>
    <c:plotArea>
      <c:layout/>
      <c:doughnutChart>
        <c:varyColors val="1"/>
        <c:ser>
          <c:idx val="0"/>
          <c:order val="0"/>
          <c:tx>
            <c:strRef>
              <c:f>Sheet1!$B$1</c:f>
              <c:strCache>
                <c:ptCount val="1"/>
                <c:pt idx="0">
                  <c:v>Test Outcomes</c:v>
                </c:pt>
              </c:strCache>
            </c:strRef>
          </c:tx>
          <c:dPt>
            <c:idx val="0"/>
            <c:spPr>
              <a:solidFill>
                <a:srgbClr val="16A34A"/>
              </a:solidFill>
              <a:ln w="19050">
                <a:solidFill>
                  <a:srgbClr val="FFFFFF"/>
                </a:solidFill>
              </a:ln>
            </c:spPr>
          </c:dPt>
          <c:dPt>
            <c:idx val="1"/>
            <c:spPr>
              <a:solidFill>
                <a:srgbClr val="D97706"/>
              </a:solidFill>
              <a:ln w="19050">
                <a:solidFill>
                  <a:srgbClr val="FFFFFF"/>
                </a:solidFill>
              </a:ln>
            </c:spPr>
          </c:dPt>
          <c:cat>
            <c:strRef>
              <c:f>Sheet1!$A$2:$A$3</c:f>
              <c:strCache>
                <c:ptCount val="2"/>
                <c:pt idx="0">
                  <c:v>Pass</c:v>
                </c:pt>
                <c:pt idx="1">
                  <c:v>Manual / Pending</c:v>
                </c:pt>
              </c:strCache>
            </c:strRef>
          </c:cat>
          <c:val>
            <c:numRef>
              <c:f>Sheet1!$B$2:$B$3</c:f>
              <c:numCache>
                <c:formatCode>General</c:formatCode>
                <c:ptCount val="2"/>
                <c:pt idx="0">
                  <c:v>18</c:v>
                </c:pt>
                <c:pt idx="1">
                  <c:v>4</c:v>
                </c:pt>
              </c:numCache>
            </c:numRef>
          </c:val>
        </c:ser>
        <c:firstSliceAng val="0"/>
        <c:holeSize val="50"/>
      </c:doughnutChart>
    </c:plotArea>
    <c:legend>
      <c:legendPos/>
      <c:layout/>
      <c:overlay val="0"/>
      <c:txPr>
        <a:bodyPr/>
        <a:lstStyle/>
        <a:p>
          <a:pPr>
            <a:defRPr sz="950">
              <a:solidFill>
                <a:srgbClr val="475569"/>
              </a:solidFill>
              <a:latin typeface="Segoe UI"/>
            </a:defRPr>
          </a:pPr>
        </a:p>
      </c:txPr>
    </c:legend>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We're presenting StockPilot, an Inventory Management System built for small retail businesses. It spans a console app, a full ASP.NET Core MVC web application, and a Progressive Web App for mobile stock lookups. Over the next few slides we'll walk through the problem, the architecture, the database, and a live walkthrough of the working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roadmap for today's presentation: starting from the problem we set out to solve, through the architecture and database design, a walkthrough of the working web app and mobile PWA, and finishing with our testing results and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a familiar one for small shops: inventory tracked on paper or scattered spreadsheets, with no real-time visibility into what's in stock. Our objectives were to centralise that data, enforce real validation rules like blocking stock-outs, and give staff both a full web dashboard and a lightweight mobile PWA for quick lookups.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StockPilot follows a clean layered architecture. Three client surfaces — the console app, the MVC web views, and the PWA — all talk to the same application layer, which enforces business rules like stock validation. That layer sits on EF Core 8 for data access, backed by a normalised SQL Server database.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technology side we're running the full Microsoft web stack: C# and .NET 8, ASP.NET Core MVC for the web app, EF Core for data access, and SQL Server as the database. Bootstrap 5 handles responsive styling, and the whole experience is wrapped as an installable, offline-capable PWA.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one of the project was a menu-driven console application, used to prove out the core OOP design before building the web layer. It demonstrates inheritance, encapsulation, polymorphism, custom exceptions for stock validation, and generic collections for in-memory data handling.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database is a normalised, third-normal-form SQL Server schema with six core tables. Foreign keys tie products to their category and supplier, stock levels are tracked per product, and every stock movement is logged in a StockTransactions table. Check constraints stop invalid data — like negative prices or quantities — from ever being written.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use-case view shows the two main actors — administrators and staff or viewer-level users — and how they interact with the system's core capabilities: managing products and categories, recording stock movements, viewing reports, and authenticating securely.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starts at login. Passwords are hashed with ASP.NET Core Identity's PasswordHasher, never stored in plain text, and a custom session filter redirects any unauthenticated request straight back to the login page. Role based access separates admin and viewer permissions, and users can change their own password from within the app.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gives an at-a-glance summary: total products, suppliers, low and out-of-stock counts, and total inventory value, alongside a live low-stock table. This doughnut chart breaks that inventory value down by category — Groceries and Stationery carry the largest share of value in our seed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Master data — products, categories and suppliers — all get full create, read, update and delete screens with live search and filtering. We also guard data integrity: you can't delete a category that's still in use by a product.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stock movement runs through validation before it's committed. Here we tried to remove ninety-nine thousand units of a product that only has forty-two available — the system rejects it immediately with a clear 'Insufficient stock' message and the stock level stays untouched. Every accepted Stock In or Stock Out is also logged as a transaction for full audit history.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dashboard, StockPilot ships five dedicated reports — product catalogue, stock summary, low stock, transaction history and inventory value — each filterable and print-friendly. On the right, units in stock by category and the overall stock health: most products sit at a healthy OK level, with six running low and two fully out of stock.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staff on the move, StockPilot ships as an installable Progressive Web App. It's add-to-home-screen ready, caches the last-viewed data through a service worker so it still works offline, and can raise a browser notification when stock runs low — all backed by the same live data as the desktop app.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ran 22 test cases covering build, authentication, stock validation, reporting and the PWA API layer. 18 passed automated verification via curl and sqlcmd checks against the live app and database; the remainder are flagged for manual browser-based verification, like the install prompt and offline reload. This table highlights six of the most important cases, including the insufficient-stock guard we just demonstrated.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StockPilot delivers a complete, validated inventory workflow across three client surfaces, backed by a properly normalised database and real security. Looking ahead, barcode scanning, supplier purchase orders, and multi-branch support are the natural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We're happy to take any questions — whether about the architecture, the validation rules, the database design, or a live demo of any part of the app.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2377440" cy="2377440"/>
          </a:xfrm>
          <a:prstGeom prst="roundRect">
            <a:avLst>
              <a:gd name="adj" fmla="val 50000"/>
            </a:avLst>
          </a:prstGeom>
          <a:solidFill>
            <a:srgbClr val="164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728655" y="5394960"/>
            <a:ext cx="2377440" cy="2377440"/>
          </a:xfrm>
          <a:prstGeom prst="roundRect">
            <a:avLst>
              <a:gd name="adj" fmla="val 50000"/>
            </a:avLst>
          </a:prstGeom>
          <a:solidFill>
            <a:srgbClr val="164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6126480" cy="365760"/>
          </a:xfrm>
          <a:prstGeom prst="rect">
            <a:avLst/>
          </a:prstGeom>
          <a:noFill/>
        </p:spPr>
        <p:txBody>
          <a:bodyPr wrap="square" lIns="0" rIns="0" tIns="0" bIns="0" anchor="t">
            <a:spAutoFit/>
          </a:bodyPr>
          <a:lstStyle/>
          <a:p>
            <a:pPr algn="l">
              <a:lnSpc>
                <a:spcPct val="100000"/>
              </a:lnSpc>
            </a:pPr>
            <a:r>
              <a:rPr sz="1200" b="1" i="0">
                <a:solidFill>
                  <a:srgbClr val="0D9488"/>
                </a:solidFill>
                <a:latin typeface="Segoe UI"/>
              </a:rPr>
              <a:t>COLLEGE MINI PROJECT</a:t>
            </a:r>
          </a:p>
        </p:txBody>
      </p:sp>
      <p:sp>
        <p:nvSpPr>
          <p:cNvPr id="6" name="TextBox 5"/>
          <p:cNvSpPr txBox="1"/>
          <p:nvPr/>
        </p:nvSpPr>
        <p:spPr>
          <a:xfrm>
            <a:off x="502920" y="1783080"/>
            <a:ext cx="6126480" cy="1188720"/>
          </a:xfrm>
          <a:prstGeom prst="rect">
            <a:avLst/>
          </a:prstGeom>
          <a:noFill/>
        </p:spPr>
        <p:txBody>
          <a:bodyPr wrap="square" lIns="0" rIns="0" tIns="0" bIns="0" anchor="t">
            <a:spAutoFit/>
          </a:bodyPr>
          <a:lstStyle/>
          <a:p>
            <a:pPr algn="l">
              <a:lnSpc>
                <a:spcPct val="100000"/>
              </a:lnSpc>
            </a:pPr>
            <a:r>
              <a:rPr sz="5800" b="1" i="0">
                <a:solidFill>
                  <a:srgbClr val="FFFFFF"/>
                </a:solidFill>
                <a:latin typeface="Segoe UI"/>
              </a:rPr>
              <a:t>StockPilot</a:t>
            </a:r>
          </a:p>
        </p:txBody>
      </p:sp>
      <p:sp>
        <p:nvSpPr>
          <p:cNvPr id="7" name="TextBox 6"/>
          <p:cNvSpPr txBox="1"/>
          <p:nvPr/>
        </p:nvSpPr>
        <p:spPr>
          <a:xfrm>
            <a:off x="502920" y="2606040"/>
            <a:ext cx="6126480" cy="640080"/>
          </a:xfrm>
          <a:prstGeom prst="rect">
            <a:avLst/>
          </a:prstGeom>
          <a:noFill/>
        </p:spPr>
        <p:txBody>
          <a:bodyPr wrap="square" lIns="0" rIns="0" tIns="0" bIns="0" anchor="t">
            <a:spAutoFit/>
          </a:bodyPr>
          <a:lstStyle/>
          <a:p>
            <a:pPr algn="l">
              <a:lnSpc>
                <a:spcPct val="100000"/>
              </a:lnSpc>
            </a:pPr>
            <a:r>
              <a:rPr sz="2400" b="0" i="0">
                <a:solidFill>
                  <a:srgbClr val="CBD5E1"/>
                </a:solidFill>
                <a:latin typeface="Segoe UI"/>
              </a:rPr>
              <a:t>Inventory Management System</a:t>
            </a:r>
          </a:p>
        </p:txBody>
      </p:sp>
      <p:sp>
        <p:nvSpPr>
          <p:cNvPr id="8" name="TextBox 7"/>
          <p:cNvSpPr txBox="1"/>
          <p:nvPr/>
        </p:nvSpPr>
        <p:spPr>
          <a:xfrm>
            <a:off x="502920" y="3154680"/>
            <a:ext cx="6126480" cy="457200"/>
          </a:xfrm>
          <a:prstGeom prst="rect">
            <a:avLst/>
          </a:prstGeom>
          <a:noFill/>
        </p:spPr>
        <p:txBody>
          <a:bodyPr wrap="square" lIns="0" rIns="0" tIns="0" bIns="0" anchor="t">
            <a:spAutoFit/>
          </a:bodyPr>
          <a:lstStyle/>
          <a:p>
            <a:pPr algn="l">
              <a:lnSpc>
                <a:spcPct val="100000"/>
              </a:lnSpc>
            </a:pPr>
            <a:r>
              <a:rPr sz="1300" b="0" i="1">
                <a:solidFill>
                  <a:srgbClr val="94A3B8"/>
                </a:solidFill>
                <a:latin typeface="Segoe UI"/>
              </a:rPr>
              <a:t>Console Application, ASP.NET Core MVC Web App &amp; Progressive Web App</a:t>
            </a:r>
          </a:p>
        </p:txBody>
      </p:sp>
      <p:sp>
        <p:nvSpPr>
          <p:cNvPr id="9" name="TextBox 8"/>
          <p:cNvSpPr txBox="1"/>
          <p:nvPr/>
        </p:nvSpPr>
        <p:spPr>
          <a:xfrm>
            <a:off x="502920" y="3977639"/>
            <a:ext cx="6126480" cy="1188720"/>
          </a:xfrm>
          <a:prstGeom prst="rect">
            <a:avLst/>
          </a:prstGeom>
          <a:noFill/>
        </p:spPr>
        <p:txBody>
          <a:bodyPr wrap="square" lIns="0" rIns="0" tIns="0" bIns="0" anchor="t">
            <a:spAutoFit/>
          </a:bodyPr>
          <a:lstStyle/>
          <a:p>
            <a:pPr algn="l">
              <a:lnSpc>
                <a:spcPct val="130000"/>
              </a:lnSpc>
            </a:pPr>
            <a:r>
              <a:rPr sz="1300" b="0" i="0">
                <a:solidFill>
                  <a:srgbClr val="E2E8F0"/>
                </a:solidFill>
                <a:latin typeface="Segoe UI"/>
              </a:rPr>
              <a:t>[Team Member 1] — [Roll No. 1]</a:t>
            </a:r>
          </a:p>
          <a:p>
            <a:pPr algn="l">
              <a:lnSpc>
                <a:spcPct val="130000"/>
              </a:lnSpc>
            </a:pPr>
            <a:r>
              <a:rPr sz="1300" b="0" i="0">
                <a:solidFill>
                  <a:srgbClr val="E2E8F0"/>
                </a:solidFill>
                <a:latin typeface="Segoe UI"/>
              </a:rPr>
              <a:t>[Team Member 2] — [Roll No. 2]</a:t>
            </a:r>
          </a:p>
          <a:p>
            <a:pPr algn="l">
              <a:lnSpc>
                <a:spcPct val="130000"/>
              </a:lnSpc>
            </a:pPr>
            <a:r>
              <a:rPr sz="1300" b="0" i="0">
                <a:solidFill>
                  <a:srgbClr val="E2E8F0"/>
                </a:solidFill>
                <a:latin typeface="Segoe UI"/>
              </a:rPr>
              <a:t>[Team Member 3] — [Roll No. 3]</a:t>
            </a:r>
          </a:p>
          <a:p>
            <a:pPr algn="l">
              <a:lnSpc>
                <a:spcPct val="130000"/>
              </a:lnSpc>
            </a:pPr>
            <a:r>
              <a:rPr sz="1300" b="0" i="0">
                <a:solidFill>
                  <a:srgbClr val="E2E8F0"/>
                </a:solidFill>
                <a:latin typeface="Segoe UI"/>
              </a:rPr>
              <a:t>[Team Member 4] — [Roll No. 4]</a:t>
            </a:r>
          </a:p>
        </p:txBody>
      </p:sp>
      <p:sp>
        <p:nvSpPr>
          <p:cNvPr id="10" name="TextBox 9"/>
          <p:cNvSpPr txBox="1"/>
          <p:nvPr/>
        </p:nvSpPr>
        <p:spPr>
          <a:xfrm>
            <a:off x="502920" y="5532120"/>
            <a:ext cx="6126480" cy="914400"/>
          </a:xfrm>
          <a:prstGeom prst="rect">
            <a:avLst/>
          </a:prstGeom>
          <a:noFill/>
        </p:spPr>
        <p:txBody>
          <a:bodyPr wrap="square" lIns="0" rIns="0" tIns="0" bIns="0" anchor="t">
            <a:spAutoFit/>
          </a:bodyPr>
          <a:lstStyle/>
          <a:p>
            <a:pPr algn="l">
              <a:lnSpc>
                <a:spcPct val="135000"/>
              </a:lnSpc>
            </a:pPr>
            <a:r>
              <a:rPr sz="1150" b="0" i="0">
                <a:solidFill>
                  <a:srgbClr val="94A3B8"/>
                </a:solidFill>
                <a:latin typeface="Segoe UI"/>
              </a:rPr>
              <a:t>[Course / Programme Name] · [Department Name]</a:t>
            </a:r>
          </a:p>
          <a:p>
            <a:pPr algn="l">
              <a:lnSpc>
                <a:spcPct val="135000"/>
              </a:lnSpc>
            </a:pPr>
            <a:r>
              <a:rPr sz="1150" b="0" i="0">
                <a:solidFill>
                  <a:srgbClr val="94A3B8"/>
                </a:solidFill>
                <a:latin typeface="Segoe UI"/>
              </a:rPr>
              <a:t>[College / Institute Name]</a:t>
            </a:r>
          </a:p>
          <a:p>
            <a:pPr algn="l">
              <a:lnSpc>
                <a:spcPct val="135000"/>
              </a:lnSpc>
            </a:pPr>
            <a:r>
              <a:rPr sz="1150" b="0" i="0">
                <a:solidFill>
                  <a:srgbClr val="94A3B8"/>
                </a:solidFill>
                <a:latin typeface="Segoe UI"/>
              </a:rPr>
              <a:t>Guide: [Guide / Project Mentor Name]   |   [Academic Year, e.g. 2025-26]</a:t>
            </a:r>
          </a:p>
        </p:txBody>
      </p:sp>
      <p:sp>
        <p:nvSpPr>
          <p:cNvPr id="11" name="Rounded Rectangle 10"/>
          <p:cNvSpPr/>
          <p:nvPr/>
        </p:nvSpPr>
        <p:spPr>
          <a:xfrm>
            <a:off x="6903720" y="2029110"/>
            <a:ext cx="4830775" cy="3074098"/>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ashboard.png"/>
          <p:cNvPicPr>
            <a:picLocks noChangeAspect="1"/>
          </p:cNvPicPr>
          <p:nvPr/>
        </p:nvPicPr>
        <p:blipFill>
          <a:blip r:embed="rId2"/>
          <a:stretch>
            <a:fillRect/>
          </a:stretch>
        </p:blipFill>
        <p:spPr>
          <a:xfrm>
            <a:off x="6976872" y="2102262"/>
            <a:ext cx="4684471" cy="292779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Agenda</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01 / 17</a:t>
            </a:r>
          </a:p>
        </p:txBody>
      </p:sp>
      <p:sp>
        <p:nvSpPr>
          <p:cNvPr id="7" name="Oval 6"/>
          <p:cNvSpPr/>
          <p:nvPr/>
        </p:nvSpPr>
        <p:spPr>
          <a:xfrm>
            <a:off x="502920" y="1325880"/>
            <a:ext cx="512064" cy="51206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01</a:t>
            </a:r>
          </a:p>
        </p:txBody>
      </p:sp>
      <p:sp>
        <p:nvSpPr>
          <p:cNvPr id="8" name="TextBox 7"/>
          <p:cNvSpPr txBox="1"/>
          <p:nvPr/>
        </p:nvSpPr>
        <p:spPr>
          <a:xfrm>
            <a:off x="1143000" y="1344168"/>
            <a:ext cx="4678527" cy="512064"/>
          </a:xfrm>
          <a:prstGeom prst="rect">
            <a:avLst/>
          </a:prstGeom>
          <a:noFill/>
        </p:spPr>
        <p:txBody>
          <a:bodyPr wrap="square" lIns="0" rIns="0" tIns="0" bIns="0" anchor="ctr">
            <a:spAutoFit/>
          </a:bodyPr>
          <a:lstStyle/>
          <a:p>
            <a:pPr algn="l">
              <a:lnSpc>
                <a:spcPct val="100000"/>
              </a:lnSpc>
            </a:pPr>
            <a:r>
              <a:rPr sz="1500" b="1" i="0">
                <a:solidFill>
                  <a:srgbClr val="1E293B"/>
                </a:solidFill>
                <a:latin typeface="Segoe UI"/>
              </a:rPr>
              <a:t>Problem Statement &amp; Objectives</a:t>
            </a:r>
          </a:p>
        </p:txBody>
      </p:sp>
      <p:sp>
        <p:nvSpPr>
          <p:cNvPr id="9" name="Oval 8"/>
          <p:cNvSpPr/>
          <p:nvPr/>
        </p:nvSpPr>
        <p:spPr>
          <a:xfrm>
            <a:off x="502920" y="2258568"/>
            <a:ext cx="512064" cy="51206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02</a:t>
            </a:r>
          </a:p>
        </p:txBody>
      </p:sp>
      <p:sp>
        <p:nvSpPr>
          <p:cNvPr id="10" name="TextBox 9"/>
          <p:cNvSpPr txBox="1"/>
          <p:nvPr/>
        </p:nvSpPr>
        <p:spPr>
          <a:xfrm>
            <a:off x="1143000" y="2276856"/>
            <a:ext cx="4678527" cy="512064"/>
          </a:xfrm>
          <a:prstGeom prst="rect">
            <a:avLst/>
          </a:prstGeom>
          <a:noFill/>
        </p:spPr>
        <p:txBody>
          <a:bodyPr wrap="square" lIns="0" rIns="0" tIns="0" bIns="0" anchor="ctr">
            <a:spAutoFit/>
          </a:bodyPr>
          <a:lstStyle/>
          <a:p>
            <a:pPr algn="l">
              <a:lnSpc>
                <a:spcPct val="100000"/>
              </a:lnSpc>
            </a:pPr>
            <a:r>
              <a:rPr sz="1500" b="1" i="0">
                <a:solidFill>
                  <a:srgbClr val="1E293B"/>
                </a:solidFill>
                <a:latin typeface="Segoe UI"/>
              </a:rPr>
              <a:t>System Architecture &amp; Tech Stack</a:t>
            </a:r>
          </a:p>
        </p:txBody>
      </p:sp>
      <p:sp>
        <p:nvSpPr>
          <p:cNvPr id="11" name="Oval 10"/>
          <p:cNvSpPr/>
          <p:nvPr/>
        </p:nvSpPr>
        <p:spPr>
          <a:xfrm>
            <a:off x="502920" y="3191256"/>
            <a:ext cx="512064" cy="51206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03</a:t>
            </a:r>
          </a:p>
        </p:txBody>
      </p:sp>
      <p:sp>
        <p:nvSpPr>
          <p:cNvPr id="12" name="TextBox 11"/>
          <p:cNvSpPr txBox="1"/>
          <p:nvPr/>
        </p:nvSpPr>
        <p:spPr>
          <a:xfrm>
            <a:off x="1143000" y="3209544"/>
            <a:ext cx="4678527" cy="512064"/>
          </a:xfrm>
          <a:prstGeom prst="rect">
            <a:avLst/>
          </a:prstGeom>
          <a:noFill/>
        </p:spPr>
        <p:txBody>
          <a:bodyPr wrap="square" lIns="0" rIns="0" tIns="0" bIns="0" anchor="ctr">
            <a:spAutoFit/>
          </a:bodyPr>
          <a:lstStyle/>
          <a:p>
            <a:pPr algn="l">
              <a:lnSpc>
                <a:spcPct val="100000"/>
              </a:lnSpc>
            </a:pPr>
            <a:r>
              <a:rPr sz="1500" b="1" i="0">
                <a:solidFill>
                  <a:srgbClr val="1E293B"/>
                </a:solidFill>
                <a:latin typeface="Segoe UI"/>
              </a:rPr>
              <a:t>Phase 1 — Console Application (OOP)</a:t>
            </a:r>
          </a:p>
        </p:txBody>
      </p:sp>
      <p:sp>
        <p:nvSpPr>
          <p:cNvPr id="13" name="Oval 12"/>
          <p:cNvSpPr/>
          <p:nvPr/>
        </p:nvSpPr>
        <p:spPr>
          <a:xfrm>
            <a:off x="502920" y="4123944"/>
            <a:ext cx="512064" cy="51206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04</a:t>
            </a:r>
          </a:p>
        </p:txBody>
      </p:sp>
      <p:sp>
        <p:nvSpPr>
          <p:cNvPr id="14" name="TextBox 13"/>
          <p:cNvSpPr txBox="1"/>
          <p:nvPr/>
        </p:nvSpPr>
        <p:spPr>
          <a:xfrm>
            <a:off x="1143000" y="4142231"/>
            <a:ext cx="4678527" cy="512064"/>
          </a:xfrm>
          <a:prstGeom prst="rect">
            <a:avLst/>
          </a:prstGeom>
          <a:noFill/>
        </p:spPr>
        <p:txBody>
          <a:bodyPr wrap="square" lIns="0" rIns="0" tIns="0" bIns="0" anchor="ctr">
            <a:spAutoFit/>
          </a:bodyPr>
          <a:lstStyle/>
          <a:p>
            <a:pPr algn="l">
              <a:lnSpc>
                <a:spcPct val="100000"/>
              </a:lnSpc>
            </a:pPr>
            <a:r>
              <a:rPr sz="1500" b="1" i="0">
                <a:solidFill>
                  <a:srgbClr val="1E293B"/>
                </a:solidFill>
                <a:latin typeface="Segoe UI"/>
              </a:rPr>
              <a:t>Database Design (ERD)</a:t>
            </a:r>
          </a:p>
        </p:txBody>
      </p:sp>
      <p:sp>
        <p:nvSpPr>
          <p:cNvPr id="15" name="Oval 14"/>
          <p:cNvSpPr/>
          <p:nvPr/>
        </p:nvSpPr>
        <p:spPr>
          <a:xfrm>
            <a:off x="502920" y="5056632"/>
            <a:ext cx="512064" cy="51206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05</a:t>
            </a:r>
          </a:p>
        </p:txBody>
      </p:sp>
      <p:sp>
        <p:nvSpPr>
          <p:cNvPr id="16" name="TextBox 15"/>
          <p:cNvSpPr txBox="1"/>
          <p:nvPr/>
        </p:nvSpPr>
        <p:spPr>
          <a:xfrm>
            <a:off x="1143000" y="5074920"/>
            <a:ext cx="4678527" cy="512064"/>
          </a:xfrm>
          <a:prstGeom prst="rect">
            <a:avLst/>
          </a:prstGeom>
          <a:noFill/>
        </p:spPr>
        <p:txBody>
          <a:bodyPr wrap="square" lIns="0" rIns="0" tIns="0" bIns="0" anchor="ctr">
            <a:spAutoFit/>
          </a:bodyPr>
          <a:lstStyle/>
          <a:p>
            <a:pPr algn="l">
              <a:lnSpc>
                <a:spcPct val="100000"/>
              </a:lnSpc>
            </a:pPr>
            <a:r>
              <a:rPr sz="1500" b="1" i="0">
                <a:solidFill>
                  <a:srgbClr val="1E293B"/>
                </a:solidFill>
                <a:latin typeface="Segoe UI"/>
              </a:rPr>
              <a:t>Use Cases &amp; Data Flow</a:t>
            </a:r>
          </a:p>
        </p:txBody>
      </p:sp>
      <p:sp>
        <p:nvSpPr>
          <p:cNvPr id="17" name="Oval 16"/>
          <p:cNvSpPr/>
          <p:nvPr/>
        </p:nvSpPr>
        <p:spPr>
          <a:xfrm>
            <a:off x="6324447" y="1325880"/>
            <a:ext cx="512064" cy="51206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06</a:t>
            </a:r>
          </a:p>
        </p:txBody>
      </p:sp>
      <p:sp>
        <p:nvSpPr>
          <p:cNvPr id="18" name="TextBox 17"/>
          <p:cNvSpPr txBox="1"/>
          <p:nvPr/>
        </p:nvSpPr>
        <p:spPr>
          <a:xfrm>
            <a:off x="6964527" y="1344168"/>
            <a:ext cx="4678527" cy="512064"/>
          </a:xfrm>
          <a:prstGeom prst="rect">
            <a:avLst/>
          </a:prstGeom>
          <a:noFill/>
        </p:spPr>
        <p:txBody>
          <a:bodyPr wrap="square" lIns="0" rIns="0" tIns="0" bIns="0" anchor="ctr">
            <a:spAutoFit/>
          </a:bodyPr>
          <a:lstStyle/>
          <a:p>
            <a:pPr algn="l">
              <a:lnSpc>
                <a:spcPct val="100000"/>
              </a:lnSpc>
            </a:pPr>
            <a:r>
              <a:rPr sz="1500" b="1" i="0">
                <a:solidFill>
                  <a:srgbClr val="1E293B"/>
                </a:solidFill>
                <a:latin typeface="Segoe UI"/>
              </a:rPr>
              <a:t>Web App — Login, Dashboard &amp; Master Data</a:t>
            </a:r>
          </a:p>
        </p:txBody>
      </p:sp>
      <p:sp>
        <p:nvSpPr>
          <p:cNvPr id="19" name="Oval 18"/>
          <p:cNvSpPr/>
          <p:nvPr/>
        </p:nvSpPr>
        <p:spPr>
          <a:xfrm>
            <a:off x="6324447" y="2258568"/>
            <a:ext cx="512064" cy="51206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07</a:t>
            </a:r>
          </a:p>
        </p:txBody>
      </p:sp>
      <p:sp>
        <p:nvSpPr>
          <p:cNvPr id="20" name="TextBox 19"/>
          <p:cNvSpPr txBox="1"/>
          <p:nvPr/>
        </p:nvSpPr>
        <p:spPr>
          <a:xfrm>
            <a:off x="6964527" y="2276856"/>
            <a:ext cx="4678527" cy="512064"/>
          </a:xfrm>
          <a:prstGeom prst="rect">
            <a:avLst/>
          </a:prstGeom>
          <a:noFill/>
        </p:spPr>
        <p:txBody>
          <a:bodyPr wrap="square" lIns="0" rIns="0" tIns="0" bIns="0" anchor="ctr">
            <a:spAutoFit/>
          </a:bodyPr>
          <a:lstStyle/>
          <a:p>
            <a:pPr algn="l">
              <a:lnSpc>
                <a:spcPct val="100000"/>
              </a:lnSpc>
            </a:pPr>
            <a:r>
              <a:rPr sz="1500" b="1" i="0">
                <a:solidFill>
                  <a:srgbClr val="1E293B"/>
                </a:solidFill>
                <a:latin typeface="Segoe UI"/>
              </a:rPr>
              <a:t>Stock Transactions &amp; Reports</a:t>
            </a:r>
          </a:p>
        </p:txBody>
      </p:sp>
      <p:sp>
        <p:nvSpPr>
          <p:cNvPr id="21" name="Oval 20"/>
          <p:cNvSpPr/>
          <p:nvPr/>
        </p:nvSpPr>
        <p:spPr>
          <a:xfrm>
            <a:off x="6324447" y="3191256"/>
            <a:ext cx="512064" cy="51206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08</a:t>
            </a:r>
          </a:p>
        </p:txBody>
      </p:sp>
      <p:sp>
        <p:nvSpPr>
          <p:cNvPr id="22" name="TextBox 21"/>
          <p:cNvSpPr txBox="1"/>
          <p:nvPr/>
        </p:nvSpPr>
        <p:spPr>
          <a:xfrm>
            <a:off x="6964527" y="3209544"/>
            <a:ext cx="4678527" cy="512064"/>
          </a:xfrm>
          <a:prstGeom prst="rect">
            <a:avLst/>
          </a:prstGeom>
          <a:noFill/>
        </p:spPr>
        <p:txBody>
          <a:bodyPr wrap="square" lIns="0" rIns="0" tIns="0" bIns="0" anchor="ctr">
            <a:spAutoFit/>
          </a:bodyPr>
          <a:lstStyle/>
          <a:p>
            <a:pPr algn="l">
              <a:lnSpc>
                <a:spcPct val="100000"/>
              </a:lnSpc>
            </a:pPr>
            <a:r>
              <a:rPr sz="1500" b="1" i="0">
                <a:solidFill>
                  <a:srgbClr val="1E293B"/>
                </a:solidFill>
                <a:latin typeface="Segoe UI"/>
              </a:rPr>
              <a:t>Progressive Web App (PWA)</a:t>
            </a:r>
          </a:p>
        </p:txBody>
      </p:sp>
      <p:sp>
        <p:nvSpPr>
          <p:cNvPr id="23" name="Oval 22"/>
          <p:cNvSpPr/>
          <p:nvPr/>
        </p:nvSpPr>
        <p:spPr>
          <a:xfrm>
            <a:off x="6324447" y="4123944"/>
            <a:ext cx="512064" cy="51206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09</a:t>
            </a:r>
          </a:p>
        </p:txBody>
      </p:sp>
      <p:sp>
        <p:nvSpPr>
          <p:cNvPr id="24" name="TextBox 23"/>
          <p:cNvSpPr txBox="1"/>
          <p:nvPr/>
        </p:nvSpPr>
        <p:spPr>
          <a:xfrm>
            <a:off x="6964527" y="4142231"/>
            <a:ext cx="4678527" cy="512064"/>
          </a:xfrm>
          <a:prstGeom prst="rect">
            <a:avLst/>
          </a:prstGeom>
          <a:noFill/>
        </p:spPr>
        <p:txBody>
          <a:bodyPr wrap="square" lIns="0" rIns="0" tIns="0" bIns="0" anchor="ctr">
            <a:spAutoFit/>
          </a:bodyPr>
          <a:lstStyle/>
          <a:p>
            <a:pPr algn="l">
              <a:lnSpc>
                <a:spcPct val="100000"/>
              </a:lnSpc>
            </a:pPr>
            <a:r>
              <a:rPr sz="1500" b="1" i="0">
                <a:solidFill>
                  <a:srgbClr val="1E293B"/>
                </a:solidFill>
                <a:latin typeface="Segoe UI"/>
              </a:rPr>
              <a:t>Testing &amp; Results</a:t>
            </a:r>
          </a:p>
        </p:txBody>
      </p:sp>
      <p:sp>
        <p:nvSpPr>
          <p:cNvPr id="25" name="Oval 24"/>
          <p:cNvSpPr/>
          <p:nvPr/>
        </p:nvSpPr>
        <p:spPr>
          <a:xfrm>
            <a:off x="6324447" y="5056632"/>
            <a:ext cx="512064" cy="51206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10</a:t>
            </a:r>
          </a:p>
        </p:txBody>
      </p:sp>
      <p:sp>
        <p:nvSpPr>
          <p:cNvPr id="26" name="TextBox 25"/>
          <p:cNvSpPr txBox="1"/>
          <p:nvPr/>
        </p:nvSpPr>
        <p:spPr>
          <a:xfrm>
            <a:off x="6964527" y="5074920"/>
            <a:ext cx="4678527" cy="512064"/>
          </a:xfrm>
          <a:prstGeom prst="rect">
            <a:avLst/>
          </a:prstGeom>
          <a:noFill/>
        </p:spPr>
        <p:txBody>
          <a:bodyPr wrap="square" lIns="0" rIns="0" tIns="0" bIns="0" anchor="ctr">
            <a:spAutoFit/>
          </a:bodyPr>
          <a:lstStyle/>
          <a:p>
            <a:pPr algn="l">
              <a:lnSpc>
                <a:spcPct val="100000"/>
              </a:lnSpc>
            </a:pPr>
            <a:r>
              <a:rPr sz="1500" b="1" i="0">
                <a:solidFill>
                  <a:srgbClr val="1E293B"/>
                </a:solidFill>
                <a:latin typeface="Segoe UI"/>
              </a:rPr>
              <a:t>Conclusion &amp; Future Scope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Problem Statement &amp; Objectives</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02 / 17</a:t>
            </a:r>
          </a:p>
        </p:txBody>
      </p:sp>
      <p:sp>
        <p:nvSpPr>
          <p:cNvPr id="7" name="Rounded Rectangle 6"/>
          <p:cNvSpPr/>
          <p:nvPr/>
        </p:nvSpPr>
        <p:spPr>
          <a:xfrm>
            <a:off x="502920" y="1371600"/>
            <a:ext cx="5364327" cy="4434840"/>
          </a:xfrm>
          <a:prstGeom prst="roundRect">
            <a:avLst>
              <a:gd name="adj" fmla="val 5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4815687" cy="365760"/>
          </a:xfrm>
          <a:prstGeom prst="rect">
            <a:avLst/>
          </a:prstGeom>
          <a:noFill/>
        </p:spPr>
        <p:txBody>
          <a:bodyPr wrap="square" lIns="0" rIns="0" tIns="0" bIns="0" anchor="t">
            <a:spAutoFit/>
          </a:bodyPr>
          <a:lstStyle/>
          <a:p>
            <a:pPr algn="l">
              <a:lnSpc>
                <a:spcPct val="100000"/>
              </a:lnSpc>
            </a:pPr>
            <a:r>
              <a:rPr sz="1700" b="1" i="0">
                <a:solidFill>
                  <a:srgbClr val="0D9488"/>
                </a:solidFill>
                <a:latin typeface="Segoe UI"/>
              </a:rPr>
              <a:t>The Problem</a:t>
            </a:r>
          </a:p>
        </p:txBody>
      </p:sp>
      <p:sp>
        <p:nvSpPr>
          <p:cNvPr id="9" name="TextBox 8"/>
          <p:cNvSpPr txBox="1"/>
          <p:nvPr/>
        </p:nvSpPr>
        <p:spPr>
          <a:xfrm>
            <a:off x="777240" y="2057400"/>
            <a:ext cx="4815687" cy="3566160"/>
          </a:xfrm>
          <a:prstGeom prst="rect">
            <a:avLst/>
          </a:prstGeom>
          <a:noFill/>
        </p:spPr>
        <p:txBody>
          <a:bodyPr wrap="square" lIns="0" rIns="0" tIns="0" bIns="0">
            <a:spAutoFit/>
          </a:bodyPr>
          <a:lstStyle/>
          <a:p>
            <a:pPr>
              <a:lnSpc>
                <a:spcPct val="110000"/>
              </a:lnSpc>
              <a:spcAft>
                <a:spcPts val="1000"/>
              </a:spcAft>
            </a:pPr>
            <a:r>
              <a:rPr sz="1450" b="1">
                <a:solidFill>
                  <a:srgbClr val="0D9488"/>
                </a:solidFill>
                <a:latin typeface="Segoe UI"/>
              </a:rPr>
              <a:t>•  </a:t>
            </a:r>
            <a:r>
              <a:rPr sz="1450">
                <a:solidFill>
                  <a:srgbClr val="475569"/>
                </a:solidFill>
                <a:latin typeface="Segoe UI"/>
              </a:rPr>
              <a:t>Small retailers still track stock on paper or in ad-hoc spreadsheets.</a:t>
            </a:r>
          </a:p>
          <a:p>
            <a:pPr>
              <a:lnSpc>
                <a:spcPct val="110000"/>
              </a:lnSpc>
              <a:spcAft>
                <a:spcPts val="1000"/>
              </a:spcAft>
            </a:pPr>
            <a:r>
              <a:rPr sz="1450" b="1">
                <a:solidFill>
                  <a:srgbClr val="0D9488"/>
                </a:solidFill>
                <a:latin typeface="Segoe UI"/>
              </a:rPr>
              <a:t>•  </a:t>
            </a:r>
            <a:r>
              <a:rPr sz="1450">
                <a:solidFill>
                  <a:srgbClr val="475569"/>
                </a:solidFill>
                <a:latin typeface="Segoe UI"/>
              </a:rPr>
              <a:t>No single source of truth for stock levels across staff.</a:t>
            </a:r>
          </a:p>
          <a:p>
            <a:pPr>
              <a:lnSpc>
                <a:spcPct val="110000"/>
              </a:lnSpc>
              <a:spcAft>
                <a:spcPts val="1000"/>
              </a:spcAft>
            </a:pPr>
            <a:r>
              <a:rPr sz="1450" b="1">
                <a:solidFill>
                  <a:srgbClr val="0D9488"/>
                </a:solidFill>
                <a:latin typeface="Segoe UI"/>
              </a:rPr>
              <a:t>•  </a:t>
            </a:r>
            <a:r>
              <a:rPr sz="1450">
                <a:solidFill>
                  <a:srgbClr val="475569"/>
                </a:solidFill>
                <a:latin typeface="Segoe UI"/>
              </a:rPr>
              <a:t>Stock-outs and overstocking both go unnoticed until it's too late.</a:t>
            </a:r>
          </a:p>
          <a:p>
            <a:pPr>
              <a:lnSpc>
                <a:spcPct val="110000"/>
              </a:lnSpc>
              <a:spcAft>
                <a:spcPts val="1000"/>
              </a:spcAft>
            </a:pPr>
            <a:r>
              <a:rPr sz="1450" b="1">
                <a:solidFill>
                  <a:srgbClr val="0D9488"/>
                </a:solidFill>
                <a:latin typeface="Segoe UI"/>
              </a:rPr>
              <a:t>•  </a:t>
            </a:r>
            <a:r>
              <a:rPr sz="1450">
                <a:solidFill>
                  <a:srgbClr val="475569"/>
                </a:solidFill>
                <a:latin typeface="Segoe UI"/>
              </a:rPr>
              <a:t>No easy way to check inventory from the shop floor or on the move.</a:t>
            </a:r>
          </a:p>
        </p:txBody>
      </p:sp>
      <p:sp>
        <p:nvSpPr>
          <p:cNvPr id="10" name="Rounded Rectangle 9"/>
          <p:cNvSpPr/>
          <p:nvPr/>
        </p:nvSpPr>
        <p:spPr>
          <a:xfrm>
            <a:off x="6324447" y="1371600"/>
            <a:ext cx="5364327" cy="4434840"/>
          </a:xfrm>
          <a:prstGeom prst="roundRect">
            <a:avLst>
              <a:gd name="adj" fmla="val 5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8767" y="1600200"/>
            <a:ext cx="4815687" cy="365760"/>
          </a:xfrm>
          <a:prstGeom prst="rect">
            <a:avLst/>
          </a:prstGeom>
          <a:noFill/>
        </p:spPr>
        <p:txBody>
          <a:bodyPr wrap="square" lIns="0" rIns="0" tIns="0" bIns="0" anchor="t">
            <a:spAutoFit/>
          </a:bodyPr>
          <a:lstStyle/>
          <a:p>
            <a:pPr algn="l">
              <a:lnSpc>
                <a:spcPct val="100000"/>
              </a:lnSpc>
            </a:pPr>
            <a:r>
              <a:rPr sz="1700" b="1" i="0">
                <a:solidFill>
                  <a:srgbClr val="0D9488"/>
                </a:solidFill>
                <a:latin typeface="Segoe UI"/>
              </a:rPr>
              <a:t>Our Objectives</a:t>
            </a:r>
          </a:p>
        </p:txBody>
      </p:sp>
      <p:sp>
        <p:nvSpPr>
          <p:cNvPr id="12" name="TextBox 11"/>
          <p:cNvSpPr txBox="1"/>
          <p:nvPr/>
        </p:nvSpPr>
        <p:spPr>
          <a:xfrm>
            <a:off x="6598767" y="2057400"/>
            <a:ext cx="4815687" cy="3566160"/>
          </a:xfrm>
          <a:prstGeom prst="rect">
            <a:avLst/>
          </a:prstGeom>
          <a:noFill/>
        </p:spPr>
        <p:txBody>
          <a:bodyPr wrap="square" lIns="0" rIns="0" tIns="0" bIns="0">
            <a:spAutoFit/>
          </a:bodyPr>
          <a:lstStyle/>
          <a:p>
            <a:pPr>
              <a:lnSpc>
                <a:spcPct val="110000"/>
              </a:lnSpc>
              <a:spcAft>
                <a:spcPts val="1000"/>
              </a:spcAft>
            </a:pPr>
            <a:r>
              <a:rPr sz="1450" b="1">
                <a:solidFill>
                  <a:srgbClr val="0D9488"/>
                </a:solidFill>
                <a:latin typeface="Segoe UI"/>
              </a:rPr>
              <a:t>•  </a:t>
            </a:r>
            <a:r>
              <a:rPr sz="1450">
                <a:solidFill>
                  <a:srgbClr val="475569"/>
                </a:solidFill>
                <a:latin typeface="Segoe UI"/>
              </a:rPr>
              <a:t>Build a centralised, role-based system for products, stock &amp; suppliers.</a:t>
            </a:r>
          </a:p>
          <a:p>
            <a:pPr>
              <a:lnSpc>
                <a:spcPct val="110000"/>
              </a:lnSpc>
              <a:spcAft>
                <a:spcPts val="1000"/>
              </a:spcAft>
            </a:pPr>
            <a:r>
              <a:rPr sz="1450" b="1">
                <a:solidFill>
                  <a:srgbClr val="0D9488"/>
                </a:solidFill>
                <a:latin typeface="Segoe UI"/>
              </a:rPr>
              <a:t>•  </a:t>
            </a:r>
            <a:r>
              <a:rPr sz="1450">
                <a:solidFill>
                  <a:srgbClr val="475569"/>
                </a:solidFill>
                <a:latin typeface="Segoe UI"/>
              </a:rPr>
              <a:t>Enforce validation: no negative stock, no selling past availability.</a:t>
            </a:r>
          </a:p>
          <a:p>
            <a:pPr>
              <a:lnSpc>
                <a:spcPct val="110000"/>
              </a:lnSpc>
              <a:spcAft>
                <a:spcPts val="1000"/>
              </a:spcAft>
            </a:pPr>
            <a:r>
              <a:rPr sz="1450" b="1">
                <a:solidFill>
                  <a:srgbClr val="0D9488"/>
                </a:solidFill>
                <a:latin typeface="Segoe UI"/>
              </a:rPr>
              <a:t>•  </a:t>
            </a:r>
            <a:r>
              <a:rPr sz="1450">
                <a:solidFill>
                  <a:srgbClr val="475569"/>
                </a:solidFill>
                <a:latin typeface="Segoe UI"/>
              </a:rPr>
              <a:t>Give managers live dashboards and printable reports.</a:t>
            </a:r>
          </a:p>
          <a:p>
            <a:pPr>
              <a:lnSpc>
                <a:spcPct val="110000"/>
              </a:lnSpc>
              <a:spcAft>
                <a:spcPts val="1000"/>
              </a:spcAft>
            </a:pPr>
            <a:r>
              <a:rPr sz="1450" b="1">
                <a:solidFill>
                  <a:srgbClr val="0D9488"/>
                </a:solidFill>
                <a:latin typeface="Segoe UI"/>
              </a:rPr>
              <a:t>•  </a:t>
            </a:r>
            <a:r>
              <a:rPr sz="1450">
                <a:solidFill>
                  <a:srgbClr val="475569"/>
                </a:solidFill>
                <a:latin typeface="Segoe UI"/>
              </a:rPr>
              <a:t>Ship a mobile-friendly PWA for quick, offline-capable stock lookups.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System Architecture</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03 / 17</a:t>
            </a:r>
          </a:p>
        </p:txBody>
      </p:sp>
      <p:sp>
        <p:nvSpPr>
          <p:cNvPr id="7" name="Rounded Rectangle 6"/>
          <p:cNvSpPr/>
          <p:nvPr/>
        </p:nvSpPr>
        <p:spPr>
          <a:xfrm>
            <a:off x="2418960" y="1280160"/>
            <a:ext cx="7353774" cy="5120640"/>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architecture.png"/>
          <p:cNvPicPr>
            <a:picLocks noChangeAspect="1"/>
          </p:cNvPicPr>
          <p:nvPr/>
        </p:nvPicPr>
        <p:blipFill>
          <a:blip r:embed="rId2"/>
          <a:stretch>
            <a:fillRect/>
          </a:stretch>
        </p:blipFill>
        <p:spPr>
          <a:xfrm>
            <a:off x="2492112" y="1353312"/>
            <a:ext cx="7207470" cy="497433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Technology Stack</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04 / 17</a:t>
            </a:r>
          </a:p>
        </p:txBody>
      </p:sp>
      <p:sp>
        <p:nvSpPr>
          <p:cNvPr id="7" name="Rounded Rectangle 6"/>
          <p:cNvSpPr/>
          <p:nvPr/>
        </p:nvSpPr>
        <p:spPr>
          <a:xfrm>
            <a:off x="502920" y="1417320"/>
            <a:ext cx="3484778" cy="1965960"/>
          </a:xfrm>
          <a:prstGeom prst="roundRect">
            <a:avLst>
              <a:gd name="adj" fmla="val 8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40664" y="1636776"/>
            <a:ext cx="658368" cy="65836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C#</a:t>
            </a:r>
          </a:p>
        </p:txBody>
      </p:sp>
      <p:sp>
        <p:nvSpPr>
          <p:cNvPr id="9" name="TextBox 8"/>
          <p:cNvSpPr txBox="1"/>
          <p:nvPr/>
        </p:nvSpPr>
        <p:spPr>
          <a:xfrm>
            <a:off x="731520" y="2423160"/>
            <a:ext cx="3027578" cy="320040"/>
          </a:xfrm>
          <a:prstGeom prst="rect">
            <a:avLst/>
          </a:prstGeom>
          <a:noFill/>
        </p:spPr>
        <p:txBody>
          <a:bodyPr wrap="square" lIns="0" rIns="0" tIns="0" bIns="0" anchor="t">
            <a:spAutoFit/>
          </a:bodyPr>
          <a:lstStyle/>
          <a:p>
            <a:pPr algn="ctr">
              <a:lnSpc>
                <a:spcPct val="100000"/>
              </a:lnSpc>
            </a:pPr>
            <a:r>
              <a:rPr sz="1450" b="1" i="0">
                <a:solidFill>
                  <a:srgbClr val="1E293B"/>
                </a:solidFill>
                <a:latin typeface="Segoe UI"/>
              </a:rPr>
              <a:t>C# / .NET 8</a:t>
            </a:r>
          </a:p>
        </p:txBody>
      </p:sp>
      <p:sp>
        <p:nvSpPr>
          <p:cNvPr id="10" name="TextBox 9"/>
          <p:cNvSpPr txBox="1"/>
          <p:nvPr/>
        </p:nvSpPr>
        <p:spPr>
          <a:xfrm>
            <a:off x="704088" y="2770632"/>
            <a:ext cx="3082442" cy="548640"/>
          </a:xfrm>
          <a:prstGeom prst="rect">
            <a:avLst/>
          </a:prstGeom>
          <a:noFill/>
        </p:spPr>
        <p:txBody>
          <a:bodyPr wrap="square" lIns="0" rIns="0" tIns="0" bIns="0" anchor="t">
            <a:spAutoFit/>
          </a:bodyPr>
          <a:lstStyle/>
          <a:p>
            <a:pPr algn="ctr">
              <a:lnSpc>
                <a:spcPct val="110000"/>
              </a:lnSpc>
            </a:pPr>
            <a:r>
              <a:rPr sz="1050" b="0" i="0">
                <a:solidFill>
                  <a:srgbClr val="475569"/>
                </a:solidFill>
                <a:latin typeface="Segoe UI"/>
              </a:rPr>
              <a:t>Modern, strongly-typed runtime across all three apps</a:t>
            </a:r>
          </a:p>
        </p:txBody>
      </p:sp>
      <p:sp>
        <p:nvSpPr>
          <p:cNvPr id="11" name="Rounded Rectangle 10"/>
          <p:cNvSpPr/>
          <p:nvPr/>
        </p:nvSpPr>
        <p:spPr>
          <a:xfrm>
            <a:off x="4353458" y="1417320"/>
            <a:ext cx="3484778" cy="1965960"/>
          </a:xfrm>
          <a:prstGeom prst="roundRect">
            <a:avLst>
              <a:gd name="adj" fmla="val 8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91202" y="1636776"/>
            <a:ext cx="658368" cy="65836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.NET</a:t>
            </a:r>
          </a:p>
        </p:txBody>
      </p:sp>
      <p:sp>
        <p:nvSpPr>
          <p:cNvPr id="13" name="TextBox 12"/>
          <p:cNvSpPr txBox="1"/>
          <p:nvPr/>
        </p:nvSpPr>
        <p:spPr>
          <a:xfrm>
            <a:off x="4582058" y="2423160"/>
            <a:ext cx="3027578" cy="320040"/>
          </a:xfrm>
          <a:prstGeom prst="rect">
            <a:avLst/>
          </a:prstGeom>
          <a:noFill/>
        </p:spPr>
        <p:txBody>
          <a:bodyPr wrap="square" lIns="0" rIns="0" tIns="0" bIns="0" anchor="t">
            <a:spAutoFit/>
          </a:bodyPr>
          <a:lstStyle/>
          <a:p>
            <a:pPr algn="ctr">
              <a:lnSpc>
                <a:spcPct val="100000"/>
              </a:lnSpc>
            </a:pPr>
            <a:r>
              <a:rPr sz="1450" b="1" i="0">
                <a:solidFill>
                  <a:srgbClr val="1E293B"/>
                </a:solidFill>
                <a:latin typeface="Segoe UI"/>
              </a:rPr>
              <a:t>ASP.NET Core MVC</a:t>
            </a:r>
          </a:p>
        </p:txBody>
      </p:sp>
      <p:sp>
        <p:nvSpPr>
          <p:cNvPr id="14" name="TextBox 13"/>
          <p:cNvSpPr txBox="1"/>
          <p:nvPr/>
        </p:nvSpPr>
        <p:spPr>
          <a:xfrm>
            <a:off x="4554626" y="2770632"/>
            <a:ext cx="3082442" cy="548640"/>
          </a:xfrm>
          <a:prstGeom prst="rect">
            <a:avLst/>
          </a:prstGeom>
          <a:noFill/>
        </p:spPr>
        <p:txBody>
          <a:bodyPr wrap="square" lIns="0" rIns="0" tIns="0" bIns="0" anchor="t">
            <a:spAutoFit/>
          </a:bodyPr>
          <a:lstStyle/>
          <a:p>
            <a:pPr algn="ctr">
              <a:lnSpc>
                <a:spcPct val="110000"/>
              </a:lnSpc>
            </a:pPr>
            <a:r>
              <a:rPr sz="1050" b="0" i="0">
                <a:solidFill>
                  <a:srgbClr val="475569"/>
                </a:solidFill>
                <a:latin typeface="Segoe UI"/>
              </a:rPr>
              <a:t>Server-rendered web app with Razor views</a:t>
            </a:r>
          </a:p>
        </p:txBody>
      </p:sp>
      <p:sp>
        <p:nvSpPr>
          <p:cNvPr id="15" name="Rounded Rectangle 14"/>
          <p:cNvSpPr/>
          <p:nvPr/>
        </p:nvSpPr>
        <p:spPr>
          <a:xfrm>
            <a:off x="8203996" y="1417320"/>
            <a:ext cx="3484778" cy="1965960"/>
          </a:xfrm>
          <a:prstGeom prst="roundRect">
            <a:avLst>
              <a:gd name="adj" fmla="val 8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41740" y="1636776"/>
            <a:ext cx="658368" cy="65836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EF</a:t>
            </a:r>
          </a:p>
        </p:txBody>
      </p:sp>
      <p:sp>
        <p:nvSpPr>
          <p:cNvPr id="17" name="TextBox 16"/>
          <p:cNvSpPr txBox="1"/>
          <p:nvPr/>
        </p:nvSpPr>
        <p:spPr>
          <a:xfrm>
            <a:off x="8432596" y="2423160"/>
            <a:ext cx="3027578" cy="320040"/>
          </a:xfrm>
          <a:prstGeom prst="rect">
            <a:avLst/>
          </a:prstGeom>
          <a:noFill/>
        </p:spPr>
        <p:txBody>
          <a:bodyPr wrap="square" lIns="0" rIns="0" tIns="0" bIns="0" anchor="t">
            <a:spAutoFit/>
          </a:bodyPr>
          <a:lstStyle/>
          <a:p>
            <a:pPr algn="ctr">
              <a:lnSpc>
                <a:spcPct val="100000"/>
              </a:lnSpc>
            </a:pPr>
            <a:r>
              <a:rPr sz="1450" b="1" i="0">
                <a:solidFill>
                  <a:srgbClr val="1E293B"/>
                </a:solidFill>
                <a:latin typeface="Segoe UI"/>
              </a:rPr>
              <a:t>EF Core 8</a:t>
            </a:r>
          </a:p>
        </p:txBody>
      </p:sp>
      <p:sp>
        <p:nvSpPr>
          <p:cNvPr id="18" name="TextBox 17"/>
          <p:cNvSpPr txBox="1"/>
          <p:nvPr/>
        </p:nvSpPr>
        <p:spPr>
          <a:xfrm>
            <a:off x="8405164" y="2770632"/>
            <a:ext cx="3082442" cy="548640"/>
          </a:xfrm>
          <a:prstGeom prst="rect">
            <a:avLst/>
          </a:prstGeom>
          <a:noFill/>
        </p:spPr>
        <p:txBody>
          <a:bodyPr wrap="square" lIns="0" rIns="0" tIns="0" bIns="0" anchor="t">
            <a:spAutoFit/>
          </a:bodyPr>
          <a:lstStyle/>
          <a:p>
            <a:pPr algn="ctr">
              <a:lnSpc>
                <a:spcPct val="110000"/>
              </a:lnSpc>
            </a:pPr>
            <a:r>
              <a:rPr sz="1050" b="0" i="0">
                <a:solidFill>
                  <a:srgbClr val="475569"/>
                </a:solidFill>
                <a:latin typeface="Segoe UI"/>
              </a:rPr>
              <a:t>Code-first ORM, migrations &amp; LINQ queries</a:t>
            </a:r>
          </a:p>
        </p:txBody>
      </p:sp>
      <p:sp>
        <p:nvSpPr>
          <p:cNvPr id="19" name="Rounded Rectangle 18"/>
          <p:cNvSpPr/>
          <p:nvPr/>
        </p:nvSpPr>
        <p:spPr>
          <a:xfrm>
            <a:off x="502920" y="3703320"/>
            <a:ext cx="3484778" cy="1965960"/>
          </a:xfrm>
          <a:prstGeom prst="roundRect">
            <a:avLst>
              <a:gd name="adj" fmla="val 8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40664" y="3922775"/>
            <a:ext cx="658368" cy="65836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SQL</a:t>
            </a:r>
          </a:p>
        </p:txBody>
      </p:sp>
      <p:sp>
        <p:nvSpPr>
          <p:cNvPr id="21" name="TextBox 20"/>
          <p:cNvSpPr txBox="1"/>
          <p:nvPr/>
        </p:nvSpPr>
        <p:spPr>
          <a:xfrm>
            <a:off x="731520" y="4709160"/>
            <a:ext cx="3027578" cy="320040"/>
          </a:xfrm>
          <a:prstGeom prst="rect">
            <a:avLst/>
          </a:prstGeom>
          <a:noFill/>
        </p:spPr>
        <p:txBody>
          <a:bodyPr wrap="square" lIns="0" rIns="0" tIns="0" bIns="0" anchor="t">
            <a:spAutoFit/>
          </a:bodyPr>
          <a:lstStyle/>
          <a:p>
            <a:pPr algn="ctr">
              <a:lnSpc>
                <a:spcPct val="100000"/>
              </a:lnSpc>
            </a:pPr>
            <a:r>
              <a:rPr sz="1450" b="1" i="0">
                <a:solidFill>
                  <a:srgbClr val="1E293B"/>
                </a:solidFill>
                <a:latin typeface="Segoe UI"/>
              </a:rPr>
              <a:t>SQL Server</a:t>
            </a:r>
          </a:p>
        </p:txBody>
      </p:sp>
      <p:sp>
        <p:nvSpPr>
          <p:cNvPr id="22" name="TextBox 21"/>
          <p:cNvSpPr txBox="1"/>
          <p:nvPr/>
        </p:nvSpPr>
        <p:spPr>
          <a:xfrm>
            <a:off x="704088" y="5056631"/>
            <a:ext cx="3082442" cy="548640"/>
          </a:xfrm>
          <a:prstGeom prst="rect">
            <a:avLst/>
          </a:prstGeom>
          <a:noFill/>
        </p:spPr>
        <p:txBody>
          <a:bodyPr wrap="square" lIns="0" rIns="0" tIns="0" bIns="0" anchor="t">
            <a:spAutoFit/>
          </a:bodyPr>
          <a:lstStyle/>
          <a:p>
            <a:pPr algn="ctr">
              <a:lnSpc>
                <a:spcPct val="110000"/>
              </a:lnSpc>
            </a:pPr>
            <a:r>
              <a:rPr sz="1050" b="0" i="0">
                <a:solidFill>
                  <a:srgbClr val="475569"/>
                </a:solidFill>
                <a:latin typeface="Segoe UI"/>
              </a:rPr>
              <a:t>Relational store — 6 tables, FKs, CHECK constraints</a:t>
            </a:r>
          </a:p>
        </p:txBody>
      </p:sp>
      <p:sp>
        <p:nvSpPr>
          <p:cNvPr id="23" name="Rounded Rectangle 22"/>
          <p:cNvSpPr/>
          <p:nvPr/>
        </p:nvSpPr>
        <p:spPr>
          <a:xfrm>
            <a:off x="4353458" y="3703320"/>
            <a:ext cx="3484778" cy="1965960"/>
          </a:xfrm>
          <a:prstGeom prst="roundRect">
            <a:avLst>
              <a:gd name="adj" fmla="val 8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591202" y="3922775"/>
            <a:ext cx="658368" cy="65836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BS5</a:t>
            </a:r>
          </a:p>
        </p:txBody>
      </p:sp>
      <p:sp>
        <p:nvSpPr>
          <p:cNvPr id="25" name="TextBox 24"/>
          <p:cNvSpPr txBox="1"/>
          <p:nvPr/>
        </p:nvSpPr>
        <p:spPr>
          <a:xfrm>
            <a:off x="4582058" y="4709160"/>
            <a:ext cx="3027578" cy="320040"/>
          </a:xfrm>
          <a:prstGeom prst="rect">
            <a:avLst/>
          </a:prstGeom>
          <a:noFill/>
        </p:spPr>
        <p:txBody>
          <a:bodyPr wrap="square" lIns="0" rIns="0" tIns="0" bIns="0" anchor="t">
            <a:spAutoFit/>
          </a:bodyPr>
          <a:lstStyle/>
          <a:p>
            <a:pPr algn="ctr">
              <a:lnSpc>
                <a:spcPct val="100000"/>
              </a:lnSpc>
            </a:pPr>
            <a:r>
              <a:rPr sz="1450" b="1" i="0">
                <a:solidFill>
                  <a:srgbClr val="1E293B"/>
                </a:solidFill>
                <a:latin typeface="Segoe UI"/>
              </a:rPr>
              <a:t>Bootstrap 5</a:t>
            </a:r>
          </a:p>
        </p:txBody>
      </p:sp>
      <p:sp>
        <p:nvSpPr>
          <p:cNvPr id="26" name="TextBox 25"/>
          <p:cNvSpPr txBox="1"/>
          <p:nvPr/>
        </p:nvSpPr>
        <p:spPr>
          <a:xfrm>
            <a:off x="4554626" y="5056631"/>
            <a:ext cx="3082442" cy="548640"/>
          </a:xfrm>
          <a:prstGeom prst="rect">
            <a:avLst/>
          </a:prstGeom>
          <a:noFill/>
        </p:spPr>
        <p:txBody>
          <a:bodyPr wrap="square" lIns="0" rIns="0" tIns="0" bIns="0" anchor="t">
            <a:spAutoFit/>
          </a:bodyPr>
          <a:lstStyle/>
          <a:p>
            <a:pPr algn="ctr">
              <a:lnSpc>
                <a:spcPct val="110000"/>
              </a:lnSpc>
            </a:pPr>
            <a:r>
              <a:rPr sz="1050" b="0" i="0">
                <a:solidFill>
                  <a:srgbClr val="475569"/>
                </a:solidFill>
                <a:latin typeface="Segoe UI"/>
              </a:rPr>
              <a:t>Responsive, accessible UI components</a:t>
            </a:r>
          </a:p>
        </p:txBody>
      </p:sp>
      <p:sp>
        <p:nvSpPr>
          <p:cNvPr id="27" name="Rounded Rectangle 26"/>
          <p:cNvSpPr/>
          <p:nvPr/>
        </p:nvSpPr>
        <p:spPr>
          <a:xfrm>
            <a:off x="8203996" y="3703320"/>
            <a:ext cx="3484778" cy="1965960"/>
          </a:xfrm>
          <a:prstGeom prst="roundRect">
            <a:avLst>
              <a:gd name="adj" fmla="val 8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441740" y="3922775"/>
            <a:ext cx="658368" cy="65836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PWA</a:t>
            </a:r>
          </a:p>
        </p:txBody>
      </p:sp>
      <p:sp>
        <p:nvSpPr>
          <p:cNvPr id="29" name="TextBox 28"/>
          <p:cNvSpPr txBox="1"/>
          <p:nvPr/>
        </p:nvSpPr>
        <p:spPr>
          <a:xfrm>
            <a:off x="8432596" y="4709160"/>
            <a:ext cx="3027578" cy="320040"/>
          </a:xfrm>
          <a:prstGeom prst="rect">
            <a:avLst/>
          </a:prstGeom>
          <a:noFill/>
        </p:spPr>
        <p:txBody>
          <a:bodyPr wrap="square" lIns="0" rIns="0" tIns="0" bIns="0" anchor="t">
            <a:spAutoFit/>
          </a:bodyPr>
          <a:lstStyle/>
          <a:p>
            <a:pPr algn="ctr">
              <a:lnSpc>
                <a:spcPct val="100000"/>
              </a:lnSpc>
            </a:pPr>
            <a:r>
              <a:rPr sz="1450" b="1" i="0">
                <a:solidFill>
                  <a:srgbClr val="1E293B"/>
                </a:solidFill>
                <a:latin typeface="Segoe UI"/>
              </a:rPr>
              <a:t>Progressive Web App</a:t>
            </a:r>
          </a:p>
        </p:txBody>
      </p:sp>
      <p:sp>
        <p:nvSpPr>
          <p:cNvPr id="30" name="TextBox 29"/>
          <p:cNvSpPr txBox="1"/>
          <p:nvPr/>
        </p:nvSpPr>
        <p:spPr>
          <a:xfrm>
            <a:off x="8405164" y="5056631"/>
            <a:ext cx="3082442" cy="548640"/>
          </a:xfrm>
          <a:prstGeom prst="rect">
            <a:avLst/>
          </a:prstGeom>
          <a:noFill/>
        </p:spPr>
        <p:txBody>
          <a:bodyPr wrap="square" lIns="0" rIns="0" tIns="0" bIns="0" anchor="t">
            <a:spAutoFit/>
          </a:bodyPr>
          <a:lstStyle/>
          <a:p>
            <a:pPr algn="ctr">
              <a:lnSpc>
                <a:spcPct val="110000"/>
              </a:lnSpc>
            </a:pPr>
            <a:r>
              <a:rPr sz="1050" b="0" i="0">
                <a:solidFill>
                  <a:srgbClr val="475569"/>
                </a:solidFill>
                <a:latin typeface="Segoe UI"/>
              </a:rPr>
              <a:t>Installable, offline-capable mobile experience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Phase 1 — Console Application</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05 / 17</a:t>
            </a:r>
          </a:p>
        </p:txBody>
      </p:sp>
      <p:sp>
        <p:nvSpPr>
          <p:cNvPr id="7" name="TextBox 6"/>
          <p:cNvSpPr txBox="1"/>
          <p:nvPr/>
        </p:nvSpPr>
        <p:spPr>
          <a:xfrm>
            <a:off x="502920" y="1234440"/>
            <a:ext cx="5806440" cy="365760"/>
          </a:xfrm>
          <a:prstGeom prst="rect">
            <a:avLst/>
          </a:prstGeom>
          <a:noFill/>
        </p:spPr>
        <p:txBody>
          <a:bodyPr wrap="square" lIns="0" rIns="0" tIns="0" bIns="0" anchor="t">
            <a:spAutoFit/>
          </a:bodyPr>
          <a:lstStyle/>
          <a:p>
            <a:pPr algn="l">
              <a:lnSpc>
                <a:spcPct val="100000"/>
              </a:lnSpc>
            </a:pPr>
            <a:r>
              <a:rPr sz="1500" b="1" i="0">
                <a:solidFill>
                  <a:srgbClr val="0D9488"/>
                </a:solidFill>
                <a:latin typeface="Segoe UI"/>
              </a:rPr>
              <a:t>Core OOP Concepts Applied</a:t>
            </a:r>
          </a:p>
        </p:txBody>
      </p:sp>
      <p:sp>
        <p:nvSpPr>
          <p:cNvPr id="8" name="Rounded Rectangle 7"/>
          <p:cNvSpPr/>
          <p:nvPr/>
        </p:nvSpPr>
        <p:spPr>
          <a:xfrm>
            <a:off x="502920" y="1691640"/>
            <a:ext cx="5806440" cy="841248"/>
          </a:xfrm>
          <a:prstGeom prst="roundRect">
            <a:avLst>
              <a:gd name="adj" fmla="val 10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13232" y="1883664"/>
            <a:ext cx="457200" cy="4572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1</a:t>
            </a:r>
          </a:p>
        </p:txBody>
      </p:sp>
      <p:sp>
        <p:nvSpPr>
          <p:cNvPr id="10" name="TextBox 9"/>
          <p:cNvSpPr txBox="1"/>
          <p:nvPr/>
        </p:nvSpPr>
        <p:spPr>
          <a:xfrm>
            <a:off x="1325880" y="1764792"/>
            <a:ext cx="4800600" cy="292608"/>
          </a:xfrm>
          <a:prstGeom prst="rect">
            <a:avLst/>
          </a:prstGeom>
          <a:noFill/>
        </p:spPr>
        <p:txBody>
          <a:bodyPr wrap="square" lIns="0" rIns="0" tIns="0" bIns="0" anchor="t">
            <a:spAutoFit/>
          </a:bodyPr>
          <a:lstStyle/>
          <a:p>
            <a:pPr algn="l">
              <a:lnSpc>
                <a:spcPct val="100000"/>
              </a:lnSpc>
            </a:pPr>
            <a:r>
              <a:rPr sz="1350" b="1" i="0">
                <a:solidFill>
                  <a:srgbClr val="1E293B"/>
                </a:solidFill>
                <a:latin typeface="Segoe UI"/>
              </a:rPr>
              <a:t>Inheritance</a:t>
            </a:r>
          </a:p>
        </p:txBody>
      </p:sp>
      <p:sp>
        <p:nvSpPr>
          <p:cNvPr id="11" name="TextBox 10"/>
          <p:cNvSpPr txBox="1"/>
          <p:nvPr/>
        </p:nvSpPr>
        <p:spPr>
          <a:xfrm>
            <a:off x="1325880" y="2075688"/>
            <a:ext cx="4800600" cy="411480"/>
          </a:xfrm>
          <a:prstGeom prst="rect">
            <a:avLst/>
          </a:prstGeom>
          <a:noFill/>
        </p:spPr>
        <p:txBody>
          <a:bodyPr wrap="square" lIns="0" rIns="0" tIns="0" bIns="0" anchor="t">
            <a:spAutoFit/>
          </a:bodyPr>
          <a:lstStyle/>
          <a:p>
            <a:pPr algn="l">
              <a:lnSpc>
                <a:spcPct val="105000"/>
              </a:lnSpc>
            </a:pPr>
            <a:r>
              <a:rPr sz="1050" b="0" i="0">
                <a:solidFill>
                  <a:srgbClr val="475569"/>
                </a:solidFill>
                <a:latin typeface="Segoe UI"/>
              </a:rPr>
              <a:t>Product &amp; report types share a common base class hierarchy.</a:t>
            </a:r>
          </a:p>
        </p:txBody>
      </p:sp>
      <p:sp>
        <p:nvSpPr>
          <p:cNvPr id="12" name="Rounded Rectangle 11"/>
          <p:cNvSpPr/>
          <p:nvPr/>
        </p:nvSpPr>
        <p:spPr>
          <a:xfrm>
            <a:off x="502920" y="2624328"/>
            <a:ext cx="5806440" cy="841248"/>
          </a:xfrm>
          <a:prstGeom prst="roundRect">
            <a:avLst>
              <a:gd name="adj" fmla="val 10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2816352"/>
            <a:ext cx="457200" cy="4572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2</a:t>
            </a:r>
          </a:p>
        </p:txBody>
      </p:sp>
      <p:sp>
        <p:nvSpPr>
          <p:cNvPr id="14" name="TextBox 13"/>
          <p:cNvSpPr txBox="1"/>
          <p:nvPr/>
        </p:nvSpPr>
        <p:spPr>
          <a:xfrm>
            <a:off x="1325880" y="2697480"/>
            <a:ext cx="4800600" cy="292608"/>
          </a:xfrm>
          <a:prstGeom prst="rect">
            <a:avLst/>
          </a:prstGeom>
          <a:noFill/>
        </p:spPr>
        <p:txBody>
          <a:bodyPr wrap="square" lIns="0" rIns="0" tIns="0" bIns="0" anchor="t">
            <a:spAutoFit/>
          </a:bodyPr>
          <a:lstStyle/>
          <a:p>
            <a:pPr algn="l">
              <a:lnSpc>
                <a:spcPct val="100000"/>
              </a:lnSpc>
            </a:pPr>
            <a:r>
              <a:rPr sz="1350" b="1" i="0">
                <a:solidFill>
                  <a:srgbClr val="1E293B"/>
                </a:solidFill>
                <a:latin typeface="Segoe UI"/>
              </a:rPr>
              <a:t>Encapsulation</a:t>
            </a:r>
          </a:p>
        </p:txBody>
      </p:sp>
      <p:sp>
        <p:nvSpPr>
          <p:cNvPr id="15" name="TextBox 14"/>
          <p:cNvSpPr txBox="1"/>
          <p:nvPr/>
        </p:nvSpPr>
        <p:spPr>
          <a:xfrm>
            <a:off x="1325880" y="3008376"/>
            <a:ext cx="4800600" cy="411480"/>
          </a:xfrm>
          <a:prstGeom prst="rect">
            <a:avLst/>
          </a:prstGeom>
          <a:noFill/>
        </p:spPr>
        <p:txBody>
          <a:bodyPr wrap="square" lIns="0" rIns="0" tIns="0" bIns="0" anchor="t">
            <a:spAutoFit/>
          </a:bodyPr>
          <a:lstStyle/>
          <a:p>
            <a:pPr algn="l">
              <a:lnSpc>
                <a:spcPct val="105000"/>
              </a:lnSpc>
            </a:pPr>
            <a:r>
              <a:rPr sz="1050" b="0" i="0">
                <a:solidFill>
                  <a:srgbClr val="475569"/>
                </a:solidFill>
                <a:latin typeface="Segoe UI"/>
              </a:rPr>
              <a:t>Private fields exposed only through validated properties.</a:t>
            </a:r>
          </a:p>
        </p:txBody>
      </p:sp>
      <p:sp>
        <p:nvSpPr>
          <p:cNvPr id="16" name="Rounded Rectangle 15"/>
          <p:cNvSpPr/>
          <p:nvPr/>
        </p:nvSpPr>
        <p:spPr>
          <a:xfrm>
            <a:off x="502920" y="3557016"/>
            <a:ext cx="5806440" cy="841248"/>
          </a:xfrm>
          <a:prstGeom prst="roundRect">
            <a:avLst>
              <a:gd name="adj" fmla="val 10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3232" y="3749040"/>
            <a:ext cx="457200" cy="4572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3</a:t>
            </a:r>
          </a:p>
        </p:txBody>
      </p:sp>
      <p:sp>
        <p:nvSpPr>
          <p:cNvPr id="18" name="TextBox 17"/>
          <p:cNvSpPr txBox="1"/>
          <p:nvPr/>
        </p:nvSpPr>
        <p:spPr>
          <a:xfrm>
            <a:off x="1325880" y="3630168"/>
            <a:ext cx="4800600" cy="292608"/>
          </a:xfrm>
          <a:prstGeom prst="rect">
            <a:avLst/>
          </a:prstGeom>
          <a:noFill/>
        </p:spPr>
        <p:txBody>
          <a:bodyPr wrap="square" lIns="0" rIns="0" tIns="0" bIns="0" anchor="t">
            <a:spAutoFit/>
          </a:bodyPr>
          <a:lstStyle/>
          <a:p>
            <a:pPr algn="l">
              <a:lnSpc>
                <a:spcPct val="100000"/>
              </a:lnSpc>
            </a:pPr>
            <a:r>
              <a:rPr sz="1350" b="1" i="0">
                <a:solidFill>
                  <a:srgbClr val="1E293B"/>
                </a:solidFill>
                <a:latin typeface="Segoe UI"/>
              </a:rPr>
              <a:t>Polymorphism</a:t>
            </a:r>
          </a:p>
        </p:txBody>
      </p:sp>
      <p:sp>
        <p:nvSpPr>
          <p:cNvPr id="19" name="TextBox 18"/>
          <p:cNvSpPr txBox="1"/>
          <p:nvPr/>
        </p:nvSpPr>
        <p:spPr>
          <a:xfrm>
            <a:off x="1325880" y="3941064"/>
            <a:ext cx="4800600" cy="411480"/>
          </a:xfrm>
          <a:prstGeom prst="rect">
            <a:avLst/>
          </a:prstGeom>
          <a:noFill/>
        </p:spPr>
        <p:txBody>
          <a:bodyPr wrap="square" lIns="0" rIns="0" tIns="0" bIns="0" anchor="t">
            <a:spAutoFit/>
          </a:bodyPr>
          <a:lstStyle/>
          <a:p>
            <a:pPr algn="l">
              <a:lnSpc>
                <a:spcPct val="105000"/>
              </a:lnSpc>
            </a:pPr>
            <a:r>
              <a:rPr sz="1050" b="0" i="0">
                <a:solidFill>
                  <a:srgbClr val="475569"/>
                </a:solidFill>
                <a:latin typeface="Segoe UI"/>
              </a:rPr>
              <a:t>Overridden methods drive role-specific menu behaviour.</a:t>
            </a:r>
          </a:p>
        </p:txBody>
      </p:sp>
      <p:sp>
        <p:nvSpPr>
          <p:cNvPr id="20" name="Rounded Rectangle 19"/>
          <p:cNvSpPr/>
          <p:nvPr/>
        </p:nvSpPr>
        <p:spPr>
          <a:xfrm>
            <a:off x="502920" y="4489704"/>
            <a:ext cx="5806440" cy="841248"/>
          </a:xfrm>
          <a:prstGeom prst="roundRect">
            <a:avLst>
              <a:gd name="adj" fmla="val 10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681728"/>
            <a:ext cx="457200" cy="4572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4</a:t>
            </a:r>
          </a:p>
        </p:txBody>
      </p:sp>
      <p:sp>
        <p:nvSpPr>
          <p:cNvPr id="22" name="TextBox 21"/>
          <p:cNvSpPr txBox="1"/>
          <p:nvPr/>
        </p:nvSpPr>
        <p:spPr>
          <a:xfrm>
            <a:off x="1325880" y="4562856"/>
            <a:ext cx="4800600" cy="292608"/>
          </a:xfrm>
          <a:prstGeom prst="rect">
            <a:avLst/>
          </a:prstGeom>
          <a:noFill/>
        </p:spPr>
        <p:txBody>
          <a:bodyPr wrap="square" lIns="0" rIns="0" tIns="0" bIns="0" anchor="t">
            <a:spAutoFit/>
          </a:bodyPr>
          <a:lstStyle/>
          <a:p>
            <a:pPr algn="l">
              <a:lnSpc>
                <a:spcPct val="100000"/>
              </a:lnSpc>
            </a:pPr>
            <a:r>
              <a:rPr sz="1350" b="1" i="0">
                <a:solidFill>
                  <a:srgbClr val="1E293B"/>
                </a:solidFill>
                <a:latin typeface="Segoe UI"/>
              </a:rPr>
              <a:t>Exceptions</a:t>
            </a:r>
          </a:p>
        </p:txBody>
      </p:sp>
      <p:sp>
        <p:nvSpPr>
          <p:cNvPr id="23" name="TextBox 22"/>
          <p:cNvSpPr txBox="1"/>
          <p:nvPr/>
        </p:nvSpPr>
        <p:spPr>
          <a:xfrm>
            <a:off x="1325880" y="4873752"/>
            <a:ext cx="4800600" cy="411480"/>
          </a:xfrm>
          <a:prstGeom prst="rect">
            <a:avLst/>
          </a:prstGeom>
          <a:noFill/>
        </p:spPr>
        <p:txBody>
          <a:bodyPr wrap="square" lIns="0" rIns="0" tIns="0" bIns="0" anchor="t">
            <a:spAutoFit/>
          </a:bodyPr>
          <a:lstStyle/>
          <a:p>
            <a:pPr algn="l">
              <a:lnSpc>
                <a:spcPct val="105000"/>
              </a:lnSpc>
            </a:pPr>
            <a:r>
              <a:rPr sz="1050" b="0" i="0">
                <a:solidFill>
                  <a:srgbClr val="475569"/>
                </a:solidFill>
                <a:latin typeface="Segoe UI"/>
              </a:rPr>
              <a:t>Custom InsufficientStockException guards every stock-out.</a:t>
            </a:r>
          </a:p>
        </p:txBody>
      </p:sp>
      <p:sp>
        <p:nvSpPr>
          <p:cNvPr id="24" name="Rounded Rectangle 23"/>
          <p:cNvSpPr/>
          <p:nvPr/>
        </p:nvSpPr>
        <p:spPr>
          <a:xfrm>
            <a:off x="502920" y="5422392"/>
            <a:ext cx="5806440" cy="841248"/>
          </a:xfrm>
          <a:prstGeom prst="roundRect">
            <a:avLst>
              <a:gd name="adj" fmla="val 10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3232" y="5614416"/>
            <a:ext cx="457200" cy="4572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Segoe UI"/>
              </a:rPr>
              <a:t>5</a:t>
            </a:r>
          </a:p>
        </p:txBody>
      </p:sp>
      <p:sp>
        <p:nvSpPr>
          <p:cNvPr id="26" name="TextBox 25"/>
          <p:cNvSpPr txBox="1"/>
          <p:nvPr/>
        </p:nvSpPr>
        <p:spPr>
          <a:xfrm>
            <a:off x="1325880" y="5495544"/>
            <a:ext cx="4800600" cy="292608"/>
          </a:xfrm>
          <a:prstGeom prst="rect">
            <a:avLst/>
          </a:prstGeom>
          <a:noFill/>
        </p:spPr>
        <p:txBody>
          <a:bodyPr wrap="square" lIns="0" rIns="0" tIns="0" bIns="0" anchor="t">
            <a:spAutoFit/>
          </a:bodyPr>
          <a:lstStyle/>
          <a:p>
            <a:pPr algn="l">
              <a:lnSpc>
                <a:spcPct val="100000"/>
              </a:lnSpc>
            </a:pPr>
            <a:r>
              <a:rPr sz="1350" b="1" i="0">
                <a:solidFill>
                  <a:srgbClr val="1E293B"/>
                </a:solidFill>
                <a:latin typeface="Segoe UI"/>
              </a:rPr>
              <a:t>Collections</a:t>
            </a:r>
          </a:p>
        </p:txBody>
      </p:sp>
      <p:sp>
        <p:nvSpPr>
          <p:cNvPr id="27" name="TextBox 26"/>
          <p:cNvSpPr txBox="1"/>
          <p:nvPr/>
        </p:nvSpPr>
        <p:spPr>
          <a:xfrm>
            <a:off x="1325880" y="5806440"/>
            <a:ext cx="4800600" cy="411480"/>
          </a:xfrm>
          <a:prstGeom prst="rect">
            <a:avLst/>
          </a:prstGeom>
          <a:noFill/>
        </p:spPr>
        <p:txBody>
          <a:bodyPr wrap="square" lIns="0" rIns="0" tIns="0" bIns="0" anchor="t">
            <a:spAutoFit/>
          </a:bodyPr>
          <a:lstStyle/>
          <a:p>
            <a:pPr algn="l">
              <a:lnSpc>
                <a:spcPct val="105000"/>
              </a:lnSpc>
            </a:pPr>
            <a:r>
              <a:rPr sz="1050" b="0" i="0">
                <a:solidFill>
                  <a:srgbClr val="475569"/>
                </a:solidFill>
                <a:latin typeface="Segoe UI"/>
              </a:rPr>
              <a:t>Generic List&lt;T&gt; / Dictionary&lt;&gt; power in-memory lookups.</a:t>
            </a:r>
          </a:p>
        </p:txBody>
      </p:sp>
      <p:sp>
        <p:nvSpPr>
          <p:cNvPr id="28" name="Rounded Rectangle 27"/>
          <p:cNvSpPr/>
          <p:nvPr/>
        </p:nvSpPr>
        <p:spPr>
          <a:xfrm>
            <a:off x="6675120" y="1966120"/>
            <a:ext cx="5013655" cy="3657278"/>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ig_class_console.png"/>
          <p:cNvPicPr>
            <a:picLocks noChangeAspect="1"/>
          </p:cNvPicPr>
          <p:nvPr/>
        </p:nvPicPr>
        <p:blipFill>
          <a:blip r:embed="rId2"/>
          <a:stretch>
            <a:fillRect/>
          </a:stretch>
        </p:blipFill>
        <p:spPr>
          <a:xfrm>
            <a:off x="6748272" y="2039272"/>
            <a:ext cx="4867351" cy="351097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Database Design</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06 / 17</a:t>
            </a:r>
          </a:p>
        </p:txBody>
      </p:sp>
      <p:sp>
        <p:nvSpPr>
          <p:cNvPr id="7" name="Rounded Rectangle 6"/>
          <p:cNvSpPr/>
          <p:nvPr/>
        </p:nvSpPr>
        <p:spPr>
          <a:xfrm>
            <a:off x="569228" y="1280160"/>
            <a:ext cx="7182582" cy="5120640"/>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RDiagram.png"/>
          <p:cNvPicPr>
            <a:picLocks noChangeAspect="1"/>
          </p:cNvPicPr>
          <p:nvPr/>
        </p:nvPicPr>
        <p:blipFill>
          <a:blip r:embed="rId2"/>
          <a:stretch>
            <a:fillRect/>
          </a:stretch>
        </p:blipFill>
        <p:spPr>
          <a:xfrm>
            <a:off x="642380" y="1353312"/>
            <a:ext cx="7036278" cy="4974336"/>
          </a:xfrm>
          <a:prstGeom prst="rect">
            <a:avLst/>
          </a:prstGeom>
        </p:spPr>
      </p:pic>
      <p:sp>
        <p:nvSpPr>
          <p:cNvPr id="9" name="TextBox 8"/>
          <p:cNvSpPr txBox="1"/>
          <p:nvPr/>
        </p:nvSpPr>
        <p:spPr>
          <a:xfrm>
            <a:off x="8138160" y="1371600"/>
            <a:ext cx="3550615" cy="365760"/>
          </a:xfrm>
          <a:prstGeom prst="rect">
            <a:avLst/>
          </a:prstGeom>
          <a:noFill/>
        </p:spPr>
        <p:txBody>
          <a:bodyPr wrap="square" lIns="0" rIns="0" tIns="0" bIns="0" anchor="t">
            <a:spAutoFit/>
          </a:bodyPr>
          <a:lstStyle/>
          <a:p>
            <a:pPr algn="l">
              <a:lnSpc>
                <a:spcPct val="100000"/>
              </a:lnSpc>
            </a:pPr>
            <a:r>
              <a:rPr sz="1600" b="1" i="0">
                <a:solidFill>
                  <a:srgbClr val="0D9488"/>
                </a:solidFill>
                <a:latin typeface="Segoe UI"/>
              </a:rPr>
              <a:t>Key Facts</a:t>
            </a:r>
          </a:p>
        </p:txBody>
      </p:sp>
      <p:sp>
        <p:nvSpPr>
          <p:cNvPr id="10" name="TextBox 9"/>
          <p:cNvSpPr txBox="1"/>
          <p:nvPr/>
        </p:nvSpPr>
        <p:spPr>
          <a:xfrm>
            <a:off x="8138160" y="1874519"/>
            <a:ext cx="3550615" cy="4206240"/>
          </a:xfrm>
          <a:prstGeom prst="rect">
            <a:avLst/>
          </a:prstGeom>
          <a:noFill/>
        </p:spPr>
        <p:txBody>
          <a:bodyPr wrap="square" lIns="0" rIns="0" tIns="0" bIns="0">
            <a:spAutoFit/>
          </a:bodyPr>
          <a:lstStyle/>
          <a:p>
            <a:pPr>
              <a:lnSpc>
                <a:spcPct val="110000"/>
              </a:lnSpc>
              <a:spcAft>
                <a:spcPts val="1400"/>
              </a:spcAft>
            </a:pPr>
            <a:r>
              <a:rPr sz="1350" b="1">
                <a:solidFill>
                  <a:srgbClr val="0D9488"/>
                </a:solidFill>
                <a:latin typeface="Segoe UI"/>
              </a:rPr>
              <a:t>•  </a:t>
            </a:r>
            <a:r>
              <a:rPr sz="1350">
                <a:solidFill>
                  <a:srgbClr val="475569"/>
                </a:solidFill>
                <a:latin typeface="Segoe UI"/>
              </a:rPr>
              <a:t>6 core tables: Categories, Suppliers, Products, Stocks, StockTransactions, Users.</a:t>
            </a:r>
          </a:p>
          <a:p>
            <a:pPr>
              <a:lnSpc>
                <a:spcPct val="110000"/>
              </a:lnSpc>
              <a:spcAft>
                <a:spcPts val="1400"/>
              </a:spcAft>
            </a:pPr>
            <a:r>
              <a:rPr sz="1350" b="1">
                <a:solidFill>
                  <a:srgbClr val="0D9488"/>
                </a:solidFill>
                <a:latin typeface="Segoe UI"/>
              </a:rPr>
              <a:t>•  </a:t>
            </a:r>
            <a:r>
              <a:rPr sz="1350">
                <a:solidFill>
                  <a:srgbClr val="475569"/>
                </a:solidFill>
                <a:latin typeface="Segoe UI"/>
              </a:rPr>
              <a:t>Primary/foreign keys enforce referential integrity across the schema.</a:t>
            </a:r>
          </a:p>
          <a:p>
            <a:pPr>
              <a:lnSpc>
                <a:spcPct val="110000"/>
              </a:lnSpc>
              <a:spcAft>
                <a:spcPts val="1400"/>
              </a:spcAft>
            </a:pPr>
            <a:r>
              <a:rPr sz="1350" b="1">
                <a:solidFill>
                  <a:srgbClr val="0D9488"/>
                </a:solidFill>
                <a:latin typeface="Segoe UI"/>
              </a:rPr>
              <a:t>•  </a:t>
            </a:r>
            <a:r>
              <a:rPr sz="1350">
                <a:solidFill>
                  <a:srgbClr val="475569"/>
                </a:solidFill>
                <a:latin typeface="Segoe UI"/>
              </a:rPr>
              <a:t>CHECK constraints guard price, quantity &amp; reorder-level ranges.</a:t>
            </a:r>
          </a:p>
          <a:p>
            <a:pPr>
              <a:lnSpc>
                <a:spcPct val="110000"/>
              </a:lnSpc>
              <a:spcAft>
                <a:spcPts val="1400"/>
              </a:spcAft>
            </a:pPr>
            <a:r>
              <a:rPr sz="1350" b="1">
                <a:solidFill>
                  <a:srgbClr val="0D9488"/>
                </a:solidFill>
                <a:latin typeface="Segoe UI"/>
              </a:rPr>
              <a:t>•  </a:t>
            </a:r>
            <a:r>
              <a:rPr sz="1350">
                <a:solidFill>
                  <a:srgbClr val="475569"/>
                </a:solidFill>
                <a:latin typeface="Segoe UI"/>
              </a:rPr>
              <a:t>Normalised to 3NF — no repeating or derivable groups.</a:t>
            </a:r>
          </a:p>
          <a:p>
            <a:pPr>
              <a:lnSpc>
                <a:spcPct val="110000"/>
              </a:lnSpc>
              <a:spcAft>
                <a:spcPts val="1400"/>
              </a:spcAft>
            </a:pPr>
            <a:r>
              <a:rPr sz="1350" b="1">
                <a:solidFill>
                  <a:srgbClr val="0D9488"/>
                </a:solidFill>
                <a:latin typeface="Segoe UI"/>
              </a:rPr>
              <a:t>•  </a:t>
            </a:r>
            <a:r>
              <a:rPr sz="1350">
                <a:solidFill>
                  <a:srgbClr val="475569"/>
                </a:solidFill>
                <a:latin typeface="Segoe UI"/>
              </a:rPr>
              <a:t>Unique indexes on category name, username &amp; product-stock mapping.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Use Cases &amp; Data Flow</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07 / 17</a:t>
            </a:r>
          </a:p>
        </p:txBody>
      </p:sp>
      <p:sp>
        <p:nvSpPr>
          <p:cNvPr id="7" name="Rounded Rectangle 6"/>
          <p:cNvSpPr/>
          <p:nvPr/>
        </p:nvSpPr>
        <p:spPr>
          <a:xfrm>
            <a:off x="2820824" y="1280160"/>
            <a:ext cx="6550046" cy="5120640"/>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usecase.png"/>
          <p:cNvPicPr>
            <a:picLocks noChangeAspect="1"/>
          </p:cNvPicPr>
          <p:nvPr/>
        </p:nvPicPr>
        <p:blipFill>
          <a:blip r:embed="rId2"/>
          <a:stretch>
            <a:fillRect/>
          </a:stretch>
        </p:blipFill>
        <p:spPr>
          <a:xfrm>
            <a:off x="2893976" y="1353312"/>
            <a:ext cx="6403742" cy="497433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Web App — Login &amp; Security</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08 / 17</a:t>
            </a:r>
          </a:p>
        </p:txBody>
      </p:sp>
      <p:sp>
        <p:nvSpPr>
          <p:cNvPr id="7" name="Rounded Rectangle 6"/>
          <p:cNvSpPr/>
          <p:nvPr/>
        </p:nvSpPr>
        <p:spPr>
          <a:xfrm>
            <a:off x="502920" y="1713356"/>
            <a:ext cx="6309360" cy="3998213"/>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gin.png"/>
          <p:cNvPicPr>
            <a:picLocks noChangeAspect="1"/>
          </p:cNvPicPr>
          <p:nvPr/>
        </p:nvPicPr>
        <p:blipFill>
          <a:blip r:embed="rId2"/>
          <a:stretch>
            <a:fillRect/>
          </a:stretch>
        </p:blipFill>
        <p:spPr>
          <a:xfrm>
            <a:off x="576072" y="1786509"/>
            <a:ext cx="6163056" cy="3851909"/>
          </a:xfrm>
          <a:prstGeom prst="rect">
            <a:avLst/>
          </a:prstGeom>
        </p:spPr>
      </p:pic>
      <p:sp>
        <p:nvSpPr>
          <p:cNvPr id="9" name="TextBox 8"/>
          <p:cNvSpPr txBox="1"/>
          <p:nvPr/>
        </p:nvSpPr>
        <p:spPr>
          <a:xfrm>
            <a:off x="502920" y="5739003"/>
            <a:ext cx="6309360" cy="219456"/>
          </a:xfrm>
          <a:prstGeom prst="rect">
            <a:avLst/>
          </a:prstGeom>
          <a:noFill/>
        </p:spPr>
        <p:txBody>
          <a:bodyPr wrap="square" lIns="0" rIns="0" tIns="0" bIns="0" anchor="t">
            <a:spAutoFit/>
          </a:bodyPr>
          <a:lstStyle/>
          <a:p>
            <a:pPr algn="ctr">
              <a:lnSpc>
                <a:spcPct val="100000"/>
              </a:lnSpc>
            </a:pPr>
            <a:r>
              <a:rPr sz="1050" b="0" i="1">
                <a:solidFill>
                  <a:srgbClr val="475569"/>
                </a:solidFill>
                <a:latin typeface="Segoe UI"/>
              </a:rPr>
              <a:t>Login screen</a:t>
            </a:r>
          </a:p>
        </p:txBody>
      </p:sp>
      <p:sp>
        <p:nvSpPr>
          <p:cNvPr id="10" name="TextBox 9"/>
          <p:cNvSpPr txBox="1"/>
          <p:nvPr/>
        </p:nvSpPr>
        <p:spPr>
          <a:xfrm>
            <a:off x="7178040" y="1463040"/>
            <a:ext cx="4510735" cy="365760"/>
          </a:xfrm>
          <a:prstGeom prst="rect">
            <a:avLst/>
          </a:prstGeom>
          <a:noFill/>
        </p:spPr>
        <p:txBody>
          <a:bodyPr wrap="square" lIns="0" rIns="0" tIns="0" bIns="0" anchor="t">
            <a:spAutoFit/>
          </a:bodyPr>
          <a:lstStyle/>
          <a:p>
            <a:pPr algn="l">
              <a:lnSpc>
                <a:spcPct val="100000"/>
              </a:lnSpc>
            </a:pPr>
            <a:r>
              <a:rPr sz="1600" b="1" i="0">
                <a:solidFill>
                  <a:srgbClr val="0D9488"/>
                </a:solidFill>
                <a:latin typeface="Segoe UI"/>
              </a:rPr>
              <a:t>Security Highlights</a:t>
            </a:r>
          </a:p>
        </p:txBody>
      </p:sp>
      <p:sp>
        <p:nvSpPr>
          <p:cNvPr id="11" name="TextBox 10"/>
          <p:cNvSpPr txBox="1"/>
          <p:nvPr/>
        </p:nvSpPr>
        <p:spPr>
          <a:xfrm>
            <a:off x="7178040" y="1920240"/>
            <a:ext cx="4510735" cy="4206240"/>
          </a:xfrm>
          <a:prstGeom prst="rect">
            <a:avLst/>
          </a:prstGeom>
          <a:noFill/>
        </p:spPr>
        <p:txBody>
          <a:bodyPr wrap="square" lIns="0" rIns="0" tIns="0" bIns="0">
            <a:spAutoFit/>
          </a:bodyPr>
          <a:lstStyle/>
          <a:p>
            <a:pPr>
              <a:lnSpc>
                <a:spcPct val="110000"/>
              </a:lnSpc>
              <a:spcAft>
                <a:spcPts val="1400"/>
              </a:spcAft>
            </a:pPr>
            <a:r>
              <a:rPr sz="1300" b="1">
                <a:solidFill>
                  <a:srgbClr val="0D9488"/>
                </a:solidFill>
                <a:latin typeface="Segoe UI"/>
              </a:rPr>
              <a:t>•  </a:t>
            </a:r>
            <a:r>
              <a:rPr sz="1300">
                <a:solidFill>
                  <a:srgbClr val="475569"/>
                </a:solidFill>
                <a:latin typeface="Segoe UI"/>
              </a:rPr>
              <a:t>Passwords hashed with ASP.NET Core Identity's PasswordHasher — never stored in plain text.</a:t>
            </a:r>
          </a:p>
          <a:p>
            <a:pPr>
              <a:lnSpc>
                <a:spcPct val="110000"/>
              </a:lnSpc>
              <a:spcAft>
                <a:spcPts val="1400"/>
              </a:spcAft>
            </a:pPr>
            <a:r>
              <a:rPr sz="1300" b="1">
                <a:solidFill>
                  <a:srgbClr val="0D9488"/>
                </a:solidFill>
                <a:latin typeface="Segoe UI"/>
              </a:rPr>
              <a:t>•  </a:t>
            </a:r>
            <a:r>
              <a:rPr sz="1300">
                <a:solidFill>
                  <a:srgbClr val="475569"/>
                </a:solidFill>
                <a:latin typeface="Segoe UI"/>
              </a:rPr>
              <a:t>A session authentication filter redirects every unauthenticated request to /Account/Login.</a:t>
            </a:r>
          </a:p>
          <a:p>
            <a:pPr>
              <a:lnSpc>
                <a:spcPct val="110000"/>
              </a:lnSpc>
              <a:spcAft>
                <a:spcPts val="1400"/>
              </a:spcAft>
            </a:pPr>
            <a:r>
              <a:rPr sz="1300" b="1">
                <a:solidFill>
                  <a:srgbClr val="0D9488"/>
                </a:solidFill>
                <a:latin typeface="Segoe UI"/>
              </a:rPr>
              <a:t>•  </a:t>
            </a:r>
            <a:r>
              <a:rPr sz="1300">
                <a:solidFill>
                  <a:srgbClr val="475569"/>
                </a:solidFill>
                <a:latin typeface="Segoe UI"/>
              </a:rPr>
              <a:t>Role-based access — Admin vs. Viewer — restricts who can modify data.</a:t>
            </a:r>
          </a:p>
          <a:p>
            <a:pPr>
              <a:lnSpc>
                <a:spcPct val="110000"/>
              </a:lnSpc>
              <a:spcAft>
                <a:spcPts val="1400"/>
              </a:spcAft>
            </a:pPr>
            <a:r>
              <a:rPr sz="1300" b="1">
                <a:solidFill>
                  <a:srgbClr val="0D9488"/>
                </a:solidFill>
                <a:latin typeface="Segoe UI"/>
              </a:rPr>
              <a:t>•  </a:t>
            </a:r>
            <a:r>
              <a:rPr sz="1300">
                <a:solidFill>
                  <a:srgbClr val="475569"/>
                </a:solidFill>
                <a:latin typeface="Segoe UI"/>
              </a:rPr>
              <a:t>Self-service Change Password flow, verified against the current hash.</a:t>
            </a:r>
          </a:p>
          <a:p>
            <a:pPr>
              <a:lnSpc>
                <a:spcPct val="110000"/>
              </a:lnSpc>
              <a:spcAft>
                <a:spcPts val="1400"/>
              </a:spcAft>
            </a:pPr>
            <a:r>
              <a:rPr sz="1300" b="1">
                <a:solidFill>
                  <a:srgbClr val="0D9488"/>
                </a:solidFill>
                <a:latin typeface="Segoe UI"/>
              </a:rPr>
              <a:t>•  </a:t>
            </a:r>
            <a:r>
              <a:rPr sz="1300">
                <a:solidFill>
                  <a:srgbClr val="475569"/>
                </a:solidFill>
                <a:latin typeface="Segoe UI"/>
              </a:rPr>
              <a:t>PWA API endpoints return 401 JSON (not a redirect) when the session is missing.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Web App — Dashboard</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09 / 17</a:t>
            </a:r>
          </a:p>
        </p:txBody>
      </p:sp>
      <p:sp>
        <p:nvSpPr>
          <p:cNvPr id="7" name="Rounded Rectangle 6"/>
          <p:cNvSpPr/>
          <p:nvPr/>
        </p:nvSpPr>
        <p:spPr>
          <a:xfrm>
            <a:off x="502920" y="1570481"/>
            <a:ext cx="6766560" cy="4283964"/>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ashboard.png"/>
          <p:cNvPicPr>
            <a:picLocks noChangeAspect="1"/>
          </p:cNvPicPr>
          <p:nvPr/>
        </p:nvPicPr>
        <p:blipFill>
          <a:blip r:embed="rId2"/>
          <a:stretch>
            <a:fillRect/>
          </a:stretch>
        </p:blipFill>
        <p:spPr>
          <a:xfrm>
            <a:off x="576072" y="1643634"/>
            <a:ext cx="6620256" cy="4137659"/>
          </a:xfrm>
          <a:prstGeom prst="rect">
            <a:avLst/>
          </a:prstGeom>
        </p:spPr>
      </p:pic>
      <p:sp>
        <p:nvSpPr>
          <p:cNvPr id="9" name="TextBox 8"/>
          <p:cNvSpPr txBox="1"/>
          <p:nvPr/>
        </p:nvSpPr>
        <p:spPr>
          <a:xfrm>
            <a:off x="502920" y="5881878"/>
            <a:ext cx="6766560" cy="219456"/>
          </a:xfrm>
          <a:prstGeom prst="rect">
            <a:avLst/>
          </a:prstGeom>
          <a:noFill/>
        </p:spPr>
        <p:txBody>
          <a:bodyPr wrap="square" lIns="0" rIns="0" tIns="0" bIns="0" anchor="t">
            <a:spAutoFit/>
          </a:bodyPr>
          <a:lstStyle/>
          <a:p>
            <a:pPr algn="ctr">
              <a:lnSpc>
                <a:spcPct val="100000"/>
              </a:lnSpc>
            </a:pPr>
            <a:r>
              <a:rPr sz="1050" b="0" i="1">
                <a:solidFill>
                  <a:srgbClr val="475569"/>
                </a:solidFill>
                <a:latin typeface="Segoe UI"/>
              </a:rPr>
              <a:t>Live dashboard</a:t>
            </a:r>
          </a:p>
        </p:txBody>
      </p:sp>
      <p:graphicFrame>
        <p:nvGraphicFramePr>
          <p:cNvPr id="10" name="Chart 9"/>
          <p:cNvGraphicFramePr>
            <a:graphicFrameLocks noGrp="1"/>
          </p:cNvGraphicFramePr>
          <p:nvPr/>
        </p:nvGraphicFramePr>
        <p:xfrm>
          <a:off x="7589520" y="1417320"/>
          <a:ext cx="4099255" cy="4937760"/>
        </p:xfrm>
        <a:graphic>
          <a:graphicData uri="http://schemas.openxmlformats.org/drawingml/2006/chart">
            <c:chart xmlns:c="http://schemas.openxmlformats.org/drawingml/2006/chart" r:id="rId3"/>
          </a:graphicData>
        </a:graphic>
      </p:graphicFrame>
      <p:sp>
        <p:nvSpPr>
          <p:cNvPr id="11" name="TextBox 10"/>
          <p:cNvSpPr txBox="1"/>
          <p:nvPr/>
        </p:nvSpPr>
        <p:spPr>
          <a:xfrm>
            <a:off x="8880785" y="3502152"/>
            <a:ext cx="1721687" cy="365760"/>
          </a:xfrm>
          <a:prstGeom prst="rect">
            <a:avLst/>
          </a:prstGeom>
          <a:noFill/>
        </p:spPr>
        <p:txBody>
          <a:bodyPr wrap="square" lIns="0" rIns="0" tIns="0" bIns="0" anchor="t">
            <a:spAutoFit/>
          </a:bodyPr>
          <a:lstStyle/>
          <a:p>
            <a:pPr algn="ctr">
              <a:lnSpc>
                <a:spcPct val="100000"/>
              </a:lnSpc>
            </a:pPr>
            <a:r>
              <a:rPr sz="1900" b="1" i="0">
                <a:solidFill>
                  <a:srgbClr val="1E293B"/>
                </a:solidFill>
                <a:latin typeface="Segoe UI"/>
              </a:rPr>
              <a:t>Rs. 145,231</a:t>
            </a:r>
          </a:p>
        </p:txBody>
      </p:sp>
      <p:sp>
        <p:nvSpPr>
          <p:cNvPr id="12" name="TextBox 11"/>
          <p:cNvSpPr txBox="1"/>
          <p:nvPr/>
        </p:nvSpPr>
        <p:spPr>
          <a:xfrm>
            <a:off x="8880785" y="3867912"/>
            <a:ext cx="1721687" cy="274320"/>
          </a:xfrm>
          <a:prstGeom prst="rect">
            <a:avLst/>
          </a:prstGeom>
          <a:noFill/>
        </p:spPr>
        <p:txBody>
          <a:bodyPr wrap="square" lIns="0" rIns="0" tIns="0" bIns="0" anchor="t">
            <a:spAutoFit/>
          </a:bodyPr>
          <a:lstStyle/>
          <a:p>
            <a:pPr algn="ctr">
              <a:lnSpc>
                <a:spcPct val="100000"/>
              </a:lnSpc>
            </a:pPr>
            <a:r>
              <a:rPr sz="1000" b="0" i="0">
                <a:solidFill>
                  <a:srgbClr val="475569"/>
                </a:solidFill>
                <a:latin typeface="Segoe UI"/>
              </a:rPr>
              <a:t>Total value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Master Data Management</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10 / 17</a:t>
            </a:r>
          </a:p>
        </p:txBody>
      </p:sp>
      <p:sp>
        <p:nvSpPr>
          <p:cNvPr id="7" name="Rounded Rectangle 6"/>
          <p:cNvSpPr/>
          <p:nvPr/>
        </p:nvSpPr>
        <p:spPr>
          <a:xfrm>
            <a:off x="530580" y="1280160"/>
            <a:ext cx="5354726" cy="3401568"/>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oducts.png"/>
          <p:cNvPicPr>
            <a:picLocks noChangeAspect="1"/>
          </p:cNvPicPr>
          <p:nvPr/>
        </p:nvPicPr>
        <p:blipFill>
          <a:blip r:embed="rId2"/>
          <a:stretch>
            <a:fillRect/>
          </a:stretch>
        </p:blipFill>
        <p:spPr>
          <a:xfrm>
            <a:off x="603732" y="1353312"/>
            <a:ext cx="5208422" cy="3255263"/>
          </a:xfrm>
          <a:prstGeom prst="rect">
            <a:avLst/>
          </a:prstGeom>
        </p:spPr>
      </p:pic>
      <p:sp>
        <p:nvSpPr>
          <p:cNvPr id="9" name="TextBox 8"/>
          <p:cNvSpPr txBox="1"/>
          <p:nvPr/>
        </p:nvSpPr>
        <p:spPr>
          <a:xfrm>
            <a:off x="530580" y="4709159"/>
            <a:ext cx="5354726" cy="219456"/>
          </a:xfrm>
          <a:prstGeom prst="rect">
            <a:avLst/>
          </a:prstGeom>
          <a:noFill/>
        </p:spPr>
        <p:txBody>
          <a:bodyPr wrap="square" lIns="0" rIns="0" tIns="0" bIns="0" anchor="t">
            <a:spAutoFit/>
          </a:bodyPr>
          <a:lstStyle/>
          <a:p>
            <a:pPr algn="ctr">
              <a:lnSpc>
                <a:spcPct val="100000"/>
              </a:lnSpc>
            </a:pPr>
            <a:r>
              <a:rPr sz="1050" b="0" i="1">
                <a:solidFill>
                  <a:srgbClr val="475569"/>
                </a:solidFill>
                <a:latin typeface="Segoe UI"/>
              </a:rPr>
              <a:t>Products</a:t>
            </a:r>
          </a:p>
        </p:txBody>
      </p:sp>
      <p:sp>
        <p:nvSpPr>
          <p:cNvPr id="10" name="Rounded Rectangle 9"/>
          <p:cNvSpPr/>
          <p:nvPr/>
        </p:nvSpPr>
        <p:spPr>
          <a:xfrm>
            <a:off x="6306388" y="1280160"/>
            <a:ext cx="5354726" cy="3401568"/>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ategories.png"/>
          <p:cNvPicPr>
            <a:picLocks noChangeAspect="1"/>
          </p:cNvPicPr>
          <p:nvPr/>
        </p:nvPicPr>
        <p:blipFill>
          <a:blip r:embed="rId3"/>
          <a:stretch>
            <a:fillRect/>
          </a:stretch>
        </p:blipFill>
        <p:spPr>
          <a:xfrm>
            <a:off x="6379540" y="1353312"/>
            <a:ext cx="5208422" cy="3255263"/>
          </a:xfrm>
          <a:prstGeom prst="rect">
            <a:avLst/>
          </a:prstGeom>
        </p:spPr>
      </p:pic>
      <p:sp>
        <p:nvSpPr>
          <p:cNvPr id="12" name="TextBox 11"/>
          <p:cNvSpPr txBox="1"/>
          <p:nvPr/>
        </p:nvSpPr>
        <p:spPr>
          <a:xfrm>
            <a:off x="6306388" y="4709159"/>
            <a:ext cx="5354726" cy="219456"/>
          </a:xfrm>
          <a:prstGeom prst="rect">
            <a:avLst/>
          </a:prstGeom>
          <a:noFill/>
        </p:spPr>
        <p:txBody>
          <a:bodyPr wrap="square" lIns="0" rIns="0" tIns="0" bIns="0" anchor="t">
            <a:spAutoFit/>
          </a:bodyPr>
          <a:lstStyle/>
          <a:p>
            <a:pPr algn="ctr">
              <a:lnSpc>
                <a:spcPct val="100000"/>
              </a:lnSpc>
            </a:pPr>
            <a:r>
              <a:rPr sz="1050" b="0" i="1">
                <a:solidFill>
                  <a:srgbClr val="475569"/>
                </a:solidFill>
                <a:latin typeface="Segoe UI"/>
              </a:rPr>
              <a:t>Categories</a:t>
            </a:r>
          </a:p>
        </p:txBody>
      </p:sp>
      <p:sp>
        <p:nvSpPr>
          <p:cNvPr id="13" name="TextBox 12"/>
          <p:cNvSpPr txBox="1"/>
          <p:nvPr/>
        </p:nvSpPr>
        <p:spPr>
          <a:xfrm>
            <a:off x="502920" y="5257800"/>
            <a:ext cx="11185855" cy="1371600"/>
          </a:xfrm>
          <a:prstGeom prst="rect">
            <a:avLst/>
          </a:prstGeom>
          <a:noFill/>
        </p:spPr>
        <p:txBody>
          <a:bodyPr wrap="square" lIns="0" rIns="0" tIns="0" bIns="0">
            <a:spAutoFit/>
          </a:bodyPr>
          <a:lstStyle/>
          <a:p>
            <a:pPr>
              <a:lnSpc>
                <a:spcPct val="110000"/>
              </a:lnSpc>
              <a:spcAft>
                <a:spcPts val="600"/>
              </a:spcAft>
            </a:pPr>
            <a:r>
              <a:rPr sz="1300" b="1">
                <a:solidFill>
                  <a:srgbClr val="0D9488"/>
                </a:solidFill>
                <a:latin typeface="Segoe UI"/>
              </a:rPr>
              <a:t>•  </a:t>
            </a:r>
            <a:r>
              <a:rPr sz="1300">
                <a:solidFill>
                  <a:srgbClr val="475569"/>
                </a:solidFill>
                <a:latin typeface="Segoe UI"/>
              </a:rPr>
              <a:t>Full CRUD for products, categories &amp; suppliers, with server-side validation.</a:t>
            </a:r>
          </a:p>
          <a:p>
            <a:pPr>
              <a:lnSpc>
                <a:spcPct val="110000"/>
              </a:lnSpc>
              <a:spcAft>
                <a:spcPts val="600"/>
              </a:spcAft>
            </a:pPr>
            <a:r>
              <a:rPr sz="1300" b="1">
                <a:solidFill>
                  <a:srgbClr val="0D9488"/>
                </a:solidFill>
                <a:latin typeface="Segoe UI"/>
              </a:rPr>
              <a:t>•  </a:t>
            </a:r>
            <a:r>
              <a:rPr sz="1300">
                <a:solidFill>
                  <a:srgbClr val="475569"/>
                </a:solidFill>
                <a:latin typeface="Segoe UI"/>
              </a:rPr>
              <a:t>Live search and category/supplier filters across every list view.</a:t>
            </a:r>
          </a:p>
          <a:p>
            <a:pPr>
              <a:lnSpc>
                <a:spcPct val="110000"/>
              </a:lnSpc>
              <a:spcAft>
                <a:spcPts val="600"/>
              </a:spcAft>
            </a:pPr>
            <a:r>
              <a:rPr sz="1300" b="1">
                <a:solidFill>
                  <a:srgbClr val="0D9488"/>
                </a:solidFill>
                <a:latin typeface="Segoe UI"/>
              </a:rPr>
              <a:t>•  </a:t>
            </a:r>
            <a:r>
              <a:rPr sz="1300">
                <a:solidFill>
                  <a:srgbClr val="475569"/>
                </a:solidFill>
                <a:latin typeface="Segoe UI"/>
              </a:rPr>
              <a:t>Category delete is blocked while products still reference it — no orphaned data.</a:t>
            </a:r>
          </a:p>
          <a:p>
            <a:pPr>
              <a:lnSpc>
                <a:spcPct val="110000"/>
              </a:lnSpc>
              <a:spcAft>
                <a:spcPts val="600"/>
              </a:spcAft>
            </a:pPr>
            <a:r>
              <a:rPr sz="1300" b="1">
                <a:solidFill>
                  <a:srgbClr val="0D9488"/>
                </a:solidFill>
                <a:latin typeface="Segoe UI"/>
              </a:rPr>
              <a:t>•  </a:t>
            </a:r>
            <a:r>
              <a:rPr sz="1300">
                <a:solidFill>
                  <a:srgbClr val="475569"/>
                </a:solidFill>
                <a:latin typeface="Segoe UI"/>
              </a:rPr>
              <a:t>Every product links to exactly one category and one supplier via foreign keys.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Stock Transactions</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11 / 17</a:t>
            </a:r>
          </a:p>
        </p:txBody>
      </p:sp>
      <p:sp>
        <p:nvSpPr>
          <p:cNvPr id="7" name="Rounded Rectangle 6"/>
          <p:cNvSpPr/>
          <p:nvPr/>
        </p:nvSpPr>
        <p:spPr>
          <a:xfrm>
            <a:off x="502920" y="1827656"/>
            <a:ext cx="5943600" cy="3769613"/>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tockout_error.png"/>
          <p:cNvPicPr>
            <a:picLocks noChangeAspect="1"/>
          </p:cNvPicPr>
          <p:nvPr/>
        </p:nvPicPr>
        <p:blipFill>
          <a:blip r:embed="rId2"/>
          <a:stretch>
            <a:fillRect/>
          </a:stretch>
        </p:blipFill>
        <p:spPr>
          <a:xfrm>
            <a:off x="576072" y="1900809"/>
            <a:ext cx="5797296" cy="3623310"/>
          </a:xfrm>
          <a:prstGeom prst="rect">
            <a:avLst/>
          </a:prstGeom>
        </p:spPr>
      </p:pic>
      <p:sp>
        <p:nvSpPr>
          <p:cNvPr id="9" name="TextBox 8"/>
          <p:cNvSpPr txBox="1"/>
          <p:nvPr/>
        </p:nvSpPr>
        <p:spPr>
          <a:xfrm>
            <a:off x="502920" y="5624703"/>
            <a:ext cx="5943600" cy="219456"/>
          </a:xfrm>
          <a:prstGeom prst="rect">
            <a:avLst/>
          </a:prstGeom>
          <a:noFill/>
        </p:spPr>
        <p:txBody>
          <a:bodyPr wrap="square" lIns="0" rIns="0" tIns="0" bIns="0" anchor="t">
            <a:spAutoFit/>
          </a:bodyPr>
          <a:lstStyle/>
          <a:p>
            <a:pPr algn="ctr">
              <a:lnSpc>
                <a:spcPct val="100000"/>
              </a:lnSpc>
            </a:pPr>
            <a:r>
              <a:rPr sz="1050" b="0" i="1">
                <a:solidFill>
                  <a:srgbClr val="475569"/>
                </a:solidFill>
                <a:latin typeface="Segoe UI"/>
              </a:rPr>
              <a:t>Stock Out — validation in action</a:t>
            </a:r>
          </a:p>
        </p:txBody>
      </p:sp>
      <p:sp>
        <p:nvSpPr>
          <p:cNvPr id="10" name="Rounded Rectangle 9"/>
          <p:cNvSpPr/>
          <p:nvPr/>
        </p:nvSpPr>
        <p:spPr>
          <a:xfrm>
            <a:off x="6812280" y="2472370"/>
            <a:ext cx="4876495" cy="2736218"/>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flow_stockout.png"/>
          <p:cNvPicPr>
            <a:picLocks noChangeAspect="1"/>
          </p:cNvPicPr>
          <p:nvPr/>
        </p:nvPicPr>
        <p:blipFill>
          <a:blip r:embed="rId3"/>
          <a:stretch>
            <a:fillRect/>
          </a:stretch>
        </p:blipFill>
        <p:spPr>
          <a:xfrm>
            <a:off x="6885432" y="2545522"/>
            <a:ext cx="4730191" cy="258991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Reports &amp; Analytics</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12 / 17</a:t>
            </a:r>
          </a:p>
        </p:txBody>
      </p:sp>
      <p:sp>
        <p:nvSpPr>
          <p:cNvPr id="7" name="Rounded Rectangle 6"/>
          <p:cNvSpPr/>
          <p:nvPr/>
        </p:nvSpPr>
        <p:spPr>
          <a:xfrm>
            <a:off x="502920" y="2084831"/>
            <a:ext cx="5120640" cy="3255263"/>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eport_low_stock.png"/>
          <p:cNvPicPr>
            <a:picLocks noChangeAspect="1"/>
          </p:cNvPicPr>
          <p:nvPr/>
        </p:nvPicPr>
        <p:blipFill>
          <a:blip r:embed="rId2"/>
          <a:stretch>
            <a:fillRect/>
          </a:stretch>
        </p:blipFill>
        <p:spPr>
          <a:xfrm>
            <a:off x="576072" y="2157984"/>
            <a:ext cx="4974336" cy="3108959"/>
          </a:xfrm>
          <a:prstGeom prst="rect">
            <a:avLst/>
          </a:prstGeom>
        </p:spPr>
      </p:pic>
      <p:sp>
        <p:nvSpPr>
          <p:cNvPr id="9" name="TextBox 8"/>
          <p:cNvSpPr txBox="1"/>
          <p:nvPr/>
        </p:nvSpPr>
        <p:spPr>
          <a:xfrm>
            <a:off x="502920" y="5367528"/>
            <a:ext cx="5120640" cy="219456"/>
          </a:xfrm>
          <a:prstGeom prst="rect">
            <a:avLst/>
          </a:prstGeom>
          <a:noFill/>
        </p:spPr>
        <p:txBody>
          <a:bodyPr wrap="square" lIns="0" rIns="0" tIns="0" bIns="0" anchor="t">
            <a:spAutoFit/>
          </a:bodyPr>
          <a:lstStyle/>
          <a:p>
            <a:pPr algn="ctr">
              <a:lnSpc>
                <a:spcPct val="100000"/>
              </a:lnSpc>
            </a:pPr>
            <a:r>
              <a:rPr sz="1050" b="0" i="1">
                <a:solidFill>
                  <a:srgbClr val="475569"/>
                </a:solidFill>
                <a:latin typeface="Segoe UI"/>
              </a:rPr>
              <a:t>Low Stock report</a:t>
            </a:r>
          </a:p>
        </p:txBody>
      </p:sp>
      <p:graphicFrame>
        <p:nvGraphicFramePr>
          <p:cNvPr id="10" name="Chart 9"/>
          <p:cNvGraphicFramePr>
            <a:graphicFrameLocks noGrp="1"/>
          </p:cNvGraphicFramePr>
          <p:nvPr/>
        </p:nvGraphicFramePr>
        <p:xfrm>
          <a:off x="5943599" y="1280160"/>
          <a:ext cx="5745175" cy="2468880"/>
        </p:xfrm>
        <a:graphic>
          <a:graphicData uri="http://schemas.openxmlformats.org/drawingml/2006/chart">
            <c:chart xmlns:c="http://schemas.openxmlformats.org/drawingml/2006/chart" r:id="rId3"/>
          </a:graphicData>
        </a:graphic>
      </p:graphicFrame>
      <p:graphicFrame>
        <p:nvGraphicFramePr>
          <p:cNvPr id="11" name="Chart 10"/>
          <p:cNvGraphicFramePr>
            <a:graphicFrameLocks noGrp="1"/>
          </p:cNvGraphicFramePr>
          <p:nvPr/>
        </p:nvGraphicFramePr>
        <p:xfrm>
          <a:off x="5943599" y="3931920"/>
          <a:ext cx="5745175" cy="2468880"/>
        </p:xfrm>
        <a:graphic>
          <a:graphicData uri="http://schemas.openxmlformats.org/drawingml/2006/chart">
            <c:chart xmlns:c="http://schemas.openxmlformats.org/drawingml/2006/chart" r:id="rId4"/>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Progressive Web App</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13 / 17</a:t>
            </a:r>
          </a:p>
        </p:txBody>
      </p:sp>
      <p:sp>
        <p:nvSpPr>
          <p:cNvPr id="7" name="Rounded Rectangle 6"/>
          <p:cNvSpPr/>
          <p:nvPr/>
        </p:nvSpPr>
        <p:spPr>
          <a:xfrm>
            <a:off x="502920" y="1234440"/>
            <a:ext cx="1874519" cy="3974709"/>
          </a:xfrm>
          <a:prstGeom prst="roundRect">
            <a:avLst>
              <a:gd name="adj" fmla="val 14000"/>
            </a:avLst>
          </a:prstGeom>
          <a:solidFill>
            <a:srgbClr val="1E293B"/>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wa_home.png"/>
          <p:cNvPicPr>
            <a:picLocks noChangeAspect="1"/>
          </p:cNvPicPr>
          <p:nvPr/>
        </p:nvPicPr>
        <p:blipFill>
          <a:blip r:embed="rId2"/>
          <a:stretch>
            <a:fillRect/>
          </a:stretch>
        </p:blipFill>
        <p:spPr>
          <a:xfrm>
            <a:off x="571500" y="1380744"/>
            <a:ext cx="1737360" cy="3759825"/>
          </a:xfrm>
          <a:prstGeom prst="rect">
            <a:avLst/>
          </a:prstGeom>
        </p:spPr>
      </p:pic>
      <p:sp>
        <p:nvSpPr>
          <p:cNvPr id="9" name="Rounded Rectangle 8"/>
          <p:cNvSpPr/>
          <p:nvPr/>
        </p:nvSpPr>
        <p:spPr>
          <a:xfrm>
            <a:off x="1234439" y="1287018"/>
            <a:ext cx="411480" cy="41148"/>
          </a:xfrm>
          <a:prstGeom prst="roundRect">
            <a:avLst>
              <a:gd name="adj" fmla="val 50000"/>
            </a:avLst>
          </a:prstGeom>
          <a:solidFill>
            <a:srgbClr val="0206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282301"/>
            <a:ext cx="1874519" cy="256032"/>
          </a:xfrm>
          <a:prstGeom prst="rect">
            <a:avLst/>
          </a:prstGeom>
          <a:noFill/>
        </p:spPr>
        <p:txBody>
          <a:bodyPr wrap="square" lIns="0" rIns="0" tIns="0" bIns="0" anchor="t">
            <a:spAutoFit/>
          </a:bodyPr>
          <a:lstStyle/>
          <a:p>
            <a:pPr algn="ctr">
              <a:lnSpc>
                <a:spcPct val="100000"/>
              </a:lnSpc>
            </a:pPr>
            <a:r>
              <a:rPr sz="1100" b="1" i="0">
                <a:solidFill>
                  <a:srgbClr val="1E293B"/>
                </a:solidFill>
                <a:latin typeface="Segoe UI"/>
              </a:rPr>
              <a:t>Home</a:t>
            </a:r>
          </a:p>
        </p:txBody>
      </p:sp>
      <p:sp>
        <p:nvSpPr>
          <p:cNvPr id="11" name="Rounded Rectangle 10"/>
          <p:cNvSpPr/>
          <p:nvPr/>
        </p:nvSpPr>
        <p:spPr>
          <a:xfrm>
            <a:off x="2670048" y="1234440"/>
            <a:ext cx="1874519" cy="3974709"/>
          </a:xfrm>
          <a:prstGeom prst="roundRect">
            <a:avLst>
              <a:gd name="adj" fmla="val 14000"/>
            </a:avLst>
          </a:prstGeom>
          <a:solidFill>
            <a:srgbClr val="1E293B"/>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wa_search.png"/>
          <p:cNvPicPr>
            <a:picLocks noChangeAspect="1"/>
          </p:cNvPicPr>
          <p:nvPr/>
        </p:nvPicPr>
        <p:blipFill>
          <a:blip r:embed="rId3"/>
          <a:stretch>
            <a:fillRect/>
          </a:stretch>
        </p:blipFill>
        <p:spPr>
          <a:xfrm>
            <a:off x="2738628" y="1380744"/>
            <a:ext cx="1737360" cy="3759825"/>
          </a:xfrm>
          <a:prstGeom prst="rect">
            <a:avLst/>
          </a:prstGeom>
        </p:spPr>
      </p:pic>
      <p:sp>
        <p:nvSpPr>
          <p:cNvPr id="13" name="Rounded Rectangle 12"/>
          <p:cNvSpPr/>
          <p:nvPr/>
        </p:nvSpPr>
        <p:spPr>
          <a:xfrm>
            <a:off x="3401568" y="1287018"/>
            <a:ext cx="411480" cy="41148"/>
          </a:xfrm>
          <a:prstGeom prst="roundRect">
            <a:avLst>
              <a:gd name="adj" fmla="val 50000"/>
            </a:avLst>
          </a:prstGeom>
          <a:solidFill>
            <a:srgbClr val="0206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70048" y="5282301"/>
            <a:ext cx="1874519" cy="256032"/>
          </a:xfrm>
          <a:prstGeom prst="rect">
            <a:avLst/>
          </a:prstGeom>
          <a:noFill/>
        </p:spPr>
        <p:txBody>
          <a:bodyPr wrap="square" lIns="0" rIns="0" tIns="0" bIns="0" anchor="t">
            <a:spAutoFit/>
          </a:bodyPr>
          <a:lstStyle/>
          <a:p>
            <a:pPr algn="ctr">
              <a:lnSpc>
                <a:spcPct val="100000"/>
              </a:lnSpc>
            </a:pPr>
            <a:r>
              <a:rPr sz="1100" b="1" i="0">
                <a:solidFill>
                  <a:srgbClr val="1E293B"/>
                </a:solidFill>
                <a:latin typeface="Segoe UI"/>
              </a:rPr>
              <a:t>Search</a:t>
            </a:r>
          </a:p>
        </p:txBody>
      </p:sp>
      <p:sp>
        <p:nvSpPr>
          <p:cNvPr id="15" name="Rounded Rectangle 14"/>
          <p:cNvSpPr/>
          <p:nvPr/>
        </p:nvSpPr>
        <p:spPr>
          <a:xfrm>
            <a:off x="4837175" y="1234440"/>
            <a:ext cx="1874519" cy="3974709"/>
          </a:xfrm>
          <a:prstGeom prst="roundRect">
            <a:avLst>
              <a:gd name="adj" fmla="val 14000"/>
            </a:avLst>
          </a:prstGeom>
          <a:solidFill>
            <a:srgbClr val="1E293B"/>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wa_lowstock.png"/>
          <p:cNvPicPr>
            <a:picLocks noChangeAspect="1"/>
          </p:cNvPicPr>
          <p:nvPr/>
        </p:nvPicPr>
        <p:blipFill>
          <a:blip r:embed="rId4"/>
          <a:stretch>
            <a:fillRect/>
          </a:stretch>
        </p:blipFill>
        <p:spPr>
          <a:xfrm>
            <a:off x="4905755" y="1380744"/>
            <a:ext cx="1737360" cy="3759825"/>
          </a:xfrm>
          <a:prstGeom prst="rect">
            <a:avLst/>
          </a:prstGeom>
        </p:spPr>
      </p:pic>
      <p:sp>
        <p:nvSpPr>
          <p:cNvPr id="17" name="Rounded Rectangle 16"/>
          <p:cNvSpPr/>
          <p:nvPr/>
        </p:nvSpPr>
        <p:spPr>
          <a:xfrm>
            <a:off x="5568696" y="1287018"/>
            <a:ext cx="411480" cy="41148"/>
          </a:xfrm>
          <a:prstGeom prst="roundRect">
            <a:avLst>
              <a:gd name="adj" fmla="val 50000"/>
            </a:avLst>
          </a:prstGeom>
          <a:solidFill>
            <a:srgbClr val="0206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37175" y="5282301"/>
            <a:ext cx="1874519" cy="256032"/>
          </a:xfrm>
          <a:prstGeom prst="rect">
            <a:avLst/>
          </a:prstGeom>
          <a:noFill/>
        </p:spPr>
        <p:txBody>
          <a:bodyPr wrap="square" lIns="0" rIns="0" tIns="0" bIns="0" anchor="t">
            <a:spAutoFit/>
          </a:bodyPr>
          <a:lstStyle/>
          <a:p>
            <a:pPr algn="ctr">
              <a:lnSpc>
                <a:spcPct val="100000"/>
              </a:lnSpc>
            </a:pPr>
            <a:r>
              <a:rPr sz="1100" b="1" i="0">
                <a:solidFill>
                  <a:srgbClr val="1E293B"/>
                </a:solidFill>
                <a:latin typeface="Segoe UI"/>
              </a:rPr>
              <a:t>Low Stock</a:t>
            </a:r>
          </a:p>
        </p:txBody>
      </p:sp>
      <p:sp>
        <p:nvSpPr>
          <p:cNvPr id="19" name="TextBox 18"/>
          <p:cNvSpPr txBox="1"/>
          <p:nvPr/>
        </p:nvSpPr>
        <p:spPr>
          <a:xfrm>
            <a:off x="7123175" y="1280160"/>
            <a:ext cx="4565599" cy="320040"/>
          </a:xfrm>
          <a:prstGeom prst="rect">
            <a:avLst/>
          </a:prstGeom>
          <a:noFill/>
        </p:spPr>
        <p:txBody>
          <a:bodyPr wrap="square" lIns="0" rIns="0" tIns="0" bIns="0" anchor="t">
            <a:spAutoFit/>
          </a:bodyPr>
          <a:lstStyle/>
          <a:p>
            <a:pPr algn="l">
              <a:lnSpc>
                <a:spcPct val="100000"/>
              </a:lnSpc>
            </a:pPr>
            <a:r>
              <a:rPr sz="1500" b="1" i="0">
                <a:solidFill>
                  <a:srgbClr val="0D9488"/>
                </a:solidFill>
                <a:latin typeface="Segoe UI"/>
              </a:rPr>
              <a:t>Mobile-First Features</a:t>
            </a:r>
          </a:p>
        </p:txBody>
      </p:sp>
      <p:sp>
        <p:nvSpPr>
          <p:cNvPr id="20" name="TextBox 19"/>
          <p:cNvSpPr txBox="1"/>
          <p:nvPr/>
        </p:nvSpPr>
        <p:spPr>
          <a:xfrm>
            <a:off x="7123175" y="1737360"/>
            <a:ext cx="4565599" cy="2286000"/>
          </a:xfrm>
          <a:prstGeom prst="rect">
            <a:avLst/>
          </a:prstGeom>
          <a:noFill/>
        </p:spPr>
        <p:txBody>
          <a:bodyPr wrap="square" lIns="0" rIns="0" tIns="0" bIns="0">
            <a:spAutoFit/>
          </a:bodyPr>
          <a:lstStyle/>
          <a:p>
            <a:pPr>
              <a:lnSpc>
                <a:spcPct val="110000"/>
              </a:lnSpc>
              <a:spcAft>
                <a:spcPts val="1000"/>
              </a:spcAft>
            </a:pPr>
            <a:r>
              <a:rPr sz="1250" b="1">
                <a:solidFill>
                  <a:srgbClr val="0D9488"/>
                </a:solidFill>
                <a:latin typeface="Segoe UI"/>
              </a:rPr>
              <a:t>•  </a:t>
            </a:r>
            <a:r>
              <a:rPr sz="1250">
                <a:solidFill>
                  <a:srgbClr val="475569"/>
                </a:solidFill>
                <a:latin typeface="Segoe UI"/>
              </a:rPr>
              <a:t>Installable — Add to Home Screen on Android &amp; iOS.</a:t>
            </a:r>
          </a:p>
          <a:p>
            <a:pPr>
              <a:lnSpc>
                <a:spcPct val="110000"/>
              </a:lnSpc>
              <a:spcAft>
                <a:spcPts val="1000"/>
              </a:spcAft>
            </a:pPr>
            <a:r>
              <a:rPr sz="1250" b="1">
                <a:solidFill>
                  <a:srgbClr val="0D9488"/>
                </a:solidFill>
                <a:latin typeface="Segoe UI"/>
              </a:rPr>
              <a:t>•  </a:t>
            </a:r>
            <a:r>
              <a:rPr sz="1250">
                <a:solidFill>
                  <a:srgbClr val="475569"/>
                </a:solidFill>
                <a:latin typeface="Segoe UI"/>
              </a:rPr>
              <a:t>Offline-capable via a service worker cache for the last-viewed data.</a:t>
            </a:r>
          </a:p>
          <a:p>
            <a:pPr>
              <a:lnSpc>
                <a:spcPct val="110000"/>
              </a:lnSpc>
              <a:spcAft>
                <a:spcPts val="1000"/>
              </a:spcAft>
            </a:pPr>
            <a:r>
              <a:rPr sz="1250" b="1">
                <a:solidFill>
                  <a:srgbClr val="0D9488"/>
                </a:solidFill>
                <a:latin typeface="Segoe UI"/>
              </a:rPr>
              <a:t>•  </a:t>
            </a:r>
            <a:r>
              <a:rPr sz="1250">
                <a:solidFill>
                  <a:srgbClr val="475569"/>
                </a:solidFill>
                <a:latin typeface="Segoe UI"/>
              </a:rPr>
              <a:t>Low-stock browser notifications when alerts are enabled.</a:t>
            </a:r>
          </a:p>
          <a:p>
            <a:pPr>
              <a:lnSpc>
                <a:spcPct val="110000"/>
              </a:lnSpc>
              <a:spcAft>
                <a:spcPts val="1000"/>
              </a:spcAft>
            </a:pPr>
            <a:r>
              <a:rPr sz="1250" b="1">
                <a:solidFill>
                  <a:srgbClr val="0D9488"/>
                </a:solidFill>
                <a:latin typeface="Segoe UI"/>
              </a:rPr>
              <a:t>•  </a:t>
            </a:r>
            <a:r>
              <a:rPr sz="1250">
                <a:solidFill>
                  <a:srgbClr val="475569"/>
                </a:solidFill>
                <a:latin typeface="Segoe UI"/>
              </a:rPr>
              <a:t>Same live product &amp; stock data as the desktop dashboard.</a:t>
            </a:r>
          </a:p>
        </p:txBody>
      </p:sp>
      <p:sp>
        <p:nvSpPr>
          <p:cNvPr id="21" name="Rounded Rectangle 20"/>
          <p:cNvSpPr/>
          <p:nvPr/>
        </p:nvSpPr>
        <p:spPr>
          <a:xfrm>
            <a:off x="8192315" y="4114800"/>
            <a:ext cx="2427320" cy="2011680"/>
          </a:xfrm>
          <a:prstGeom prst="roundRect">
            <a:avLst>
              <a:gd name="adj" fmla="val 9000"/>
            </a:avLst>
          </a:prstGeom>
          <a:solidFill>
            <a:srgbClr val="FFFFFF"/>
          </a:solidFill>
          <a:ln>
            <a:noFill/>
          </a:ln>
          <a:effectLst>
            <a:outerShdw blurRad="82296" dist="32004" dir="2700000" rotWithShape="0">
              <a:srgbClr val="0F172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fig_pwa_cache.png"/>
          <p:cNvPicPr>
            <a:picLocks noChangeAspect="1"/>
          </p:cNvPicPr>
          <p:nvPr/>
        </p:nvPicPr>
        <p:blipFill>
          <a:blip r:embed="rId5"/>
          <a:stretch>
            <a:fillRect/>
          </a:stretch>
        </p:blipFill>
        <p:spPr>
          <a:xfrm>
            <a:off x="8265467" y="4187952"/>
            <a:ext cx="2281016" cy="186537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Testing &amp; Results</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475569"/>
                </a:solidFill>
                <a:latin typeface="Segoe UI"/>
              </a:rPr>
              <a:t>14 / 17</a:t>
            </a:r>
          </a:p>
        </p:txBody>
      </p:sp>
      <p:graphicFrame>
        <p:nvGraphicFramePr>
          <p:cNvPr id="7" name="Chart 6"/>
          <p:cNvGraphicFramePr>
            <a:graphicFrameLocks noGrp="1"/>
          </p:cNvGraphicFramePr>
          <p:nvPr/>
        </p:nvGraphicFramePr>
        <p:xfrm>
          <a:off x="502920" y="1371600"/>
          <a:ext cx="4114800" cy="4206240"/>
        </p:xfrm>
        <a:graphic>
          <a:graphicData uri="http://schemas.openxmlformats.org/drawingml/2006/chart">
            <c:chart xmlns:c="http://schemas.openxmlformats.org/drawingml/2006/chart" r:id="rId2"/>
          </a:graphicData>
        </a:graphic>
      </p:graphicFrame>
      <p:sp>
        <p:nvSpPr>
          <p:cNvPr id="8" name="TextBox 7"/>
          <p:cNvSpPr txBox="1"/>
          <p:nvPr/>
        </p:nvSpPr>
        <p:spPr>
          <a:xfrm>
            <a:off x="1799082" y="3090672"/>
            <a:ext cx="1728216" cy="365760"/>
          </a:xfrm>
          <a:prstGeom prst="rect">
            <a:avLst/>
          </a:prstGeom>
          <a:noFill/>
        </p:spPr>
        <p:txBody>
          <a:bodyPr wrap="square" lIns="0" rIns="0" tIns="0" bIns="0" anchor="t">
            <a:spAutoFit/>
          </a:bodyPr>
          <a:lstStyle/>
          <a:p>
            <a:pPr algn="ctr">
              <a:lnSpc>
                <a:spcPct val="100000"/>
              </a:lnSpc>
            </a:pPr>
            <a:r>
              <a:rPr sz="1900" b="1" i="0">
                <a:solidFill>
                  <a:srgbClr val="1E293B"/>
                </a:solidFill>
                <a:latin typeface="Segoe UI"/>
              </a:rPr>
              <a:t>18/22</a:t>
            </a:r>
          </a:p>
        </p:txBody>
      </p:sp>
      <p:sp>
        <p:nvSpPr>
          <p:cNvPr id="9" name="TextBox 8"/>
          <p:cNvSpPr txBox="1"/>
          <p:nvPr/>
        </p:nvSpPr>
        <p:spPr>
          <a:xfrm>
            <a:off x="1799082" y="3456432"/>
            <a:ext cx="1728216" cy="274320"/>
          </a:xfrm>
          <a:prstGeom prst="rect">
            <a:avLst/>
          </a:prstGeom>
          <a:noFill/>
        </p:spPr>
        <p:txBody>
          <a:bodyPr wrap="square" lIns="0" rIns="0" tIns="0" bIns="0" anchor="t">
            <a:spAutoFit/>
          </a:bodyPr>
          <a:lstStyle/>
          <a:p>
            <a:pPr algn="ctr">
              <a:lnSpc>
                <a:spcPct val="100000"/>
              </a:lnSpc>
            </a:pPr>
            <a:r>
              <a:rPr sz="1000" b="0" i="0">
                <a:solidFill>
                  <a:srgbClr val="475569"/>
                </a:solidFill>
                <a:latin typeface="Segoe UI"/>
              </a:rPr>
              <a:t>automated pass</a:t>
            </a:r>
          </a:p>
        </p:txBody>
      </p:sp>
      <p:sp>
        <p:nvSpPr>
          <p:cNvPr id="10" name="TextBox 9"/>
          <p:cNvSpPr txBox="1"/>
          <p:nvPr/>
        </p:nvSpPr>
        <p:spPr>
          <a:xfrm>
            <a:off x="4983480" y="1371600"/>
            <a:ext cx="6705295" cy="320040"/>
          </a:xfrm>
          <a:prstGeom prst="rect">
            <a:avLst/>
          </a:prstGeom>
          <a:noFill/>
        </p:spPr>
        <p:txBody>
          <a:bodyPr wrap="square" lIns="0" rIns="0" tIns="0" bIns="0" anchor="t">
            <a:spAutoFit/>
          </a:bodyPr>
          <a:lstStyle/>
          <a:p>
            <a:pPr algn="l">
              <a:lnSpc>
                <a:spcPct val="100000"/>
              </a:lnSpc>
            </a:pPr>
            <a:r>
              <a:rPr sz="1500" b="1" i="0">
                <a:solidFill>
                  <a:srgbClr val="0D9488"/>
                </a:solidFill>
                <a:latin typeface="Segoe UI"/>
              </a:rPr>
              <a:t>Key Test Cases</a:t>
            </a:r>
          </a:p>
        </p:txBody>
      </p:sp>
      <p:graphicFrame>
        <p:nvGraphicFramePr>
          <p:cNvPr id="11" name="Table 10"/>
          <p:cNvGraphicFramePr>
            <a:graphicFrameLocks noGrp="1"/>
          </p:cNvGraphicFramePr>
          <p:nvPr/>
        </p:nvGraphicFramePr>
        <p:xfrm>
          <a:off x="4983480" y="1783080"/>
          <a:ext cx="6705295" cy="3840480"/>
        </p:xfrm>
        <a:graphic>
          <a:graphicData uri="http://schemas.openxmlformats.org/drawingml/2006/table">
            <a:tbl>
              <a:tblPr firstRow="1" bandRow="1">
                <a:tableStyleId>{5C22544A-7EE6-4342-B048-85BDC9FD1C3A}</a:tableStyleId>
              </a:tblPr>
              <a:tblGrid>
                <a:gridCol w="914400"/>
                <a:gridCol w="4739335"/>
                <a:gridCol w="1051560"/>
              </a:tblGrid>
              <a:tr h="548640">
                <a:tc>
                  <a:txBody>
                    <a:bodyPr/>
                    <a:lstStyle/>
                    <a:p>
                      <a:r>
                        <a:rPr sz="1050" b="1">
                          <a:solidFill>
                            <a:srgbClr val="FFFFFF"/>
                          </a:solidFill>
                          <a:latin typeface="Segoe UI"/>
                        </a:rPr>
                        <a:t>ID</a:t>
                      </a:r>
                    </a:p>
                  </a:txBody>
                  <a:tcPr anchor="ctr" marL="76200" marR="76200">
                    <a:solidFill>
                      <a:srgbClr val="1E293B"/>
                    </a:solidFill>
                  </a:tcPr>
                </a:tc>
                <a:tc>
                  <a:txBody>
                    <a:bodyPr/>
                    <a:lstStyle/>
                    <a:p>
                      <a:r>
                        <a:rPr sz="1050" b="1">
                          <a:solidFill>
                            <a:srgbClr val="FFFFFF"/>
                          </a:solidFill>
                          <a:latin typeface="Segoe UI"/>
                        </a:rPr>
                        <a:t>Test</a:t>
                      </a:r>
                    </a:p>
                  </a:txBody>
                  <a:tcPr anchor="ctr" marL="76200" marR="76200">
                    <a:solidFill>
                      <a:srgbClr val="1E293B"/>
                    </a:solidFill>
                  </a:tcPr>
                </a:tc>
                <a:tc>
                  <a:txBody>
                    <a:bodyPr/>
                    <a:lstStyle/>
                    <a:p>
                      <a:r>
                        <a:rPr sz="1050" b="1">
                          <a:solidFill>
                            <a:srgbClr val="FFFFFF"/>
                          </a:solidFill>
                          <a:latin typeface="Segoe UI"/>
                        </a:rPr>
                        <a:t>Status</a:t>
                      </a:r>
                    </a:p>
                  </a:txBody>
                  <a:tcPr anchor="ctr" marL="76200" marR="76200">
                    <a:solidFill>
                      <a:srgbClr val="1E293B"/>
                    </a:solidFill>
                  </a:tcPr>
                </a:tc>
              </a:tr>
              <a:tr h="548640">
                <a:tc>
                  <a:txBody>
                    <a:bodyPr wrap="square"/>
                    <a:lstStyle/>
                    <a:p>
                      <a:r>
                        <a:rPr sz="950">
                          <a:solidFill>
                            <a:srgbClr val="475569"/>
                          </a:solidFill>
                          <a:latin typeface="Segoe UI"/>
                        </a:rPr>
                        <a:t>TC-04</a:t>
                      </a:r>
                    </a:p>
                  </a:txBody>
                  <a:tcPr anchor="ctr" marL="76200" marR="76200">
                    <a:solidFill>
                      <a:srgbClr val="FFFFFF"/>
                    </a:solidFill>
                  </a:tcPr>
                </a:tc>
                <a:tc>
                  <a:txBody>
                    <a:bodyPr wrap="square"/>
                    <a:lstStyle/>
                    <a:p>
                      <a:r>
                        <a:rPr sz="950">
                          <a:solidFill>
                            <a:srgbClr val="475569"/>
                          </a:solidFill>
                          <a:latin typeface="Segoe UI"/>
                        </a:rPr>
                        <a:t>POST /Account/Login with admin/Admin@123 and a valid antiforgery token</a:t>
                      </a:r>
                    </a:p>
                  </a:txBody>
                  <a:tcPr anchor="ctr" marL="76200" marR="76200">
                    <a:solidFill>
                      <a:srgbClr val="FFFFFF"/>
                    </a:solidFill>
                  </a:tcPr>
                </a:tc>
                <a:tc>
                  <a:txBody>
                    <a:bodyPr wrap="square"/>
                    <a:lstStyle/>
                    <a:p>
                      <a:r>
                        <a:rPr sz="950" b="1">
                          <a:solidFill>
                            <a:srgbClr val="16A34A"/>
                          </a:solidFill>
                          <a:latin typeface="Segoe UI"/>
                        </a:rPr>
                        <a:t>Pass</a:t>
                      </a:r>
                    </a:p>
                  </a:txBody>
                  <a:tcPr anchor="ctr" marL="76200" marR="76200">
                    <a:solidFill>
                      <a:srgbClr val="FFFFFF"/>
                    </a:solidFill>
                  </a:tcPr>
                </a:tc>
              </a:tr>
              <a:tr h="548640">
                <a:tc>
                  <a:txBody>
                    <a:bodyPr wrap="square"/>
                    <a:lstStyle/>
                    <a:p>
                      <a:r>
                        <a:rPr sz="950">
                          <a:solidFill>
                            <a:srgbClr val="475569"/>
                          </a:solidFill>
                          <a:latin typeface="Segoe UI"/>
                        </a:rPr>
                        <a:t>TC-07</a:t>
                      </a:r>
                    </a:p>
                  </a:txBody>
                  <a:tcPr anchor="ctr" marL="76200" marR="76200">
                    <a:solidFill>
                      <a:srgbClr val="F1F5F9"/>
                    </a:solidFill>
                  </a:tcPr>
                </a:tc>
                <a:tc>
                  <a:txBody>
                    <a:bodyPr wrap="square"/>
                    <a:lstStyle/>
                    <a:p>
                      <a:r>
                        <a:rPr sz="950">
                          <a:solidFill>
                            <a:srgbClr val="475569"/>
                          </a:solidFill>
                          <a:latin typeface="Segoe UI"/>
                        </a:rPr>
                        <a:t>POST /Stock/StockOut with quantity=99999 on a product with 42 in stock</a:t>
                      </a:r>
                    </a:p>
                  </a:txBody>
                  <a:tcPr anchor="ctr" marL="76200" marR="76200">
                    <a:solidFill>
                      <a:srgbClr val="F1F5F9"/>
                    </a:solidFill>
                  </a:tcPr>
                </a:tc>
                <a:tc>
                  <a:txBody>
                    <a:bodyPr wrap="square"/>
                    <a:lstStyle/>
                    <a:p>
                      <a:r>
                        <a:rPr sz="950" b="1">
                          <a:solidFill>
                            <a:srgbClr val="16A34A"/>
                          </a:solidFill>
                          <a:latin typeface="Segoe UI"/>
                        </a:rPr>
                        <a:t>Pass</a:t>
                      </a:r>
                    </a:p>
                  </a:txBody>
                  <a:tcPr anchor="ctr" marL="76200" marR="76200">
                    <a:solidFill>
                      <a:srgbClr val="F1F5F9"/>
                    </a:solidFill>
                  </a:tcPr>
                </a:tc>
              </a:tr>
              <a:tr h="548640">
                <a:tc>
                  <a:txBody>
                    <a:bodyPr wrap="square"/>
                    <a:lstStyle/>
                    <a:p>
                      <a:r>
                        <a:rPr sz="950">
                          <a:solidFill>
                            <a:srgbClr val="475569"/>
                          </a:solidFill>
                          <a:latin typeface="Segoe UI"/>
                        </a:rPr>
                        <a:t>TC-09</a:t>
                      </a:r>
                    </a:p>
                  </a:txBody>
                  <a:tcPr anchor="ctr" marL="76200" marR="76200">
                    <a:solidFill>
                      <a:srgbClr val="FFFFFF"/>
                    </a:solidFill>
                  </a:tcPr>
                </a:tc>
                <a:tc>
                  <a:txBody>
                    <a:bodyPr wrap="square"/>
                    <a:lstStyle/>
                    <a:p>
                      <a:r>
                        <a:rPr sz="950">
                          <a:solidFill>
                            <a:srgbClr val="475569"/>
                          </a:solidFill>
                          <a:latin typeface="Segoe UI"/>
                        </a:rPr>
                        <a:t>POST /Category/Delete/1 for a category with products assigned to it</a:t>
                      </a:r>
                    </a:p>
                  </a:txBody>
                  <a:tcPr anchor="ctr" marL="76200" marR="76200">
                    <a:solidFill>
                      <a:srgbClr val="FFFFFF"/>
                    </a:solidFill>
                  </a:tcPr>
                </a:tc>
                <a:tc>
                  <a:txBody>
                    <a:bodyPr wrap="square"/>
                    <a:lstStyle/>
                    <a:p>
                      <a:r>
                        <a:rPr sz="950" b="1">
                          <a:solidFill>
                            <a:srgbClr val="16A34A"/>
                          </a:solidFill>
                          <a:latin typeface="Segoe UI"/>
                        </a:rPr>
                        <a:t>Pass</a:t>
                      </a:r>
                    </a:p>
                  </a:txBody>
                  <a:tcPr anchor="ctr" marL="76200" marR="76200">
                    <a:solidFill>
                      <a:srgbClr val="FFFFFF"/>
                    </a:solidFill>
                  </a:tcPr>
                </a:tc>
              </a:tr>
              <a:tr h="548640">
                <a:tc>
                  <a:txBody>
                    <a:bodyPr wrap="square"/>
                    <a:lstStyle/>
                    <a:p>
                      <a:r>
                        <a:rPr sz="950">
                          <a:solidFill>
                            <a:srgbClr val="475569"/>
                          </a:solidFill>
                          <a:latin typeface="Segoe UI"/>
                        </a:rPr>
                        <a:t>TC-13</a:t>
                      </a:r>
                    </a:p>
                  </a:txBody>
                  <a:tcPr anchor="ctr" marL="76200" marR="76200">
                    <a:solidFill>
                      <a:srgbClr val="F1F5F9"/>
                    </a:solidFill>
                  </a:tcPr>
                </a:tc>
                <a:tc>
                  <a:txBody>
                    <a:bodyPr wrap="square"/>
                    <a:lstStyle/>
                    <a:p>
                      <a:r>
                        <a:rPr sz="950">
                          <a:solidFill>
                            <a:srgbClr val="475569"/>
                          </a:solidFill>
                          <a:latin typeface="Segoe UI"/>
                        </a:rPr>
                        <a:t>GET /api/products without a session</a:t>
                      </a:r>
                    </a:p>
                  </a:txBody>
                  <a:tcPr anchor="ctr" marL="76200" marR="76200">
                    <a:solidFill>
                      <a:srgbClr val="F1F5F9"/>
                    </a:solidFill>
                  </a:tcPr>
                </a:tc>
                <a:tc>
                  <a:txBody>
                    <a:bodyPr wrap="square"/>
                    <a:lstStyle/>
                    <a:p>
                      <a:r>
                        <a:rPr sz="950" b="1">
                          <a:solidFill>
                            <a:srgbClr val="16A34A"/>
                          </a:solidFill>
                          <a:latin typeface="Segoe UI"/>
                        </a:rPr>
                        <a:t>Pass</a:t>
                      </a:r>
                    </a:p>
                  </a:txBody>
                  <a:tcPr anchor="ctr" marL="76200" marR="76200">
                    <a:solidFill>
                      <a:srgbClr val="F1F5F9"/>
                    </a:solidFill>
                  </a:tcPr>
                </a:tc>
              </a:tr>
              <a:tr h="548640">
                <a:tc>
                  <a:txBody>
                    <a:bodyPr wrap="square"/>
                    <a:lstStyle/>
                    <a:p>
                      <a:r>
                        <a:rPr sz="950">
                          <a:solidFill>
                            <a:srgbClr val="475569"/>
                          </a:solidFill>
                          <a:latin typeface="Segoe UI"/>
                        </a:rPr>
                        <a:t>TC-14</a:t>
                      </a:r>
                    </a:p>
                  </a:txBody>
                  <a:tcPr anchor="ctr" marL="76200" marR="76200">
                    <a:solidFill>
                      <a:srgbClr val="FFFFFF"/>
                    </a:solidFill>
                  </a:tcPr>
                </a:tc>
                <a:tc>
                  <a:txBody>
                    <a:bodyPr wrap="square"/>
                    <a:lstStyle/>
                    <a:p>
                      <a:r>
                        <a:rPr sz="950">
                          <a:solidFill>
                            <a:srgbClr val="475569"/>
                          </a:solidFill>
                          <a:latin typeface="Segoe UI"/>
                        </a:rPr>
                        <a:t>Authenticated GET /api/stock/low</a:t>
                      </a:r>
                    </a:p>
                  </a:txBody>
                  <a:tcPr anchor="ctr" marL="76200" marR="76200">
                    <a:solidFill>
                      <a:srgbClr val="FFFFFF"/>
                    </a:solidFill>
                  </a:tcPr>
                </a:tc>
                <a:tc>
                  <a:txBody>
                    <a:bodyPr wrap="square"/>
                    <a:lstStyle/>
                    <a:p>
                      <a:r>
                        <a:rPr sz="950" b="1">
                          <a:solidFill>
                            <a:srgbClr val="16A34A"/>
                          </a:solidFill>
                          <a:latin typeface="Segoe UI"/>
                        </a:rPr>
                        <a:t>Pass</a:t>
                      </a:r>
                    </a:p>
                  </a:txBody>
                  <a:tcPr anchor="ctr" marL="76200" marR="76200">
                    <a:solidFill>
                      <a:srgbClr val="FFFFFF"/>
                    </a:solidFill>
                  </a:tcPr>
                </a:tc>
              </a:tr>
              <a:tr h="548640">
                <a:tc>
                  <a:txBody>
                    <a:bodyPr wrap="square"/>
                    <a:lstStyle/>
                    <a:p>
                      <a:r>
                        <a:rPr sz="950">
                          <a:solidFill>
                            <a:srgbClr val="475569"/>
                          </a:solidFill>
                          <a:latin typeface="Segoe UI"/>
                        </a:rPr>
                        <a:t>TC-17</a:t>
                      </a:r>
                    </a:p>
                  </a:txBody>
                  <a:tcPr anchor="ctr" marL="76200" marR="76200">
                    <a:solidFill>
                      <a:srgbClr val="F1F5F9"/>
                    </a:solidFill>
                  </a:tcPr>
                </a:tc>
                <a:tc>
                  <a:txBody>
                    <a:bodyPr wrap="square"/>
                    <a:lstStyle/>
                    <a:p>
                      <a:r>
                        <a:rPr sz="950">
                          <a:solidFill>
                            <a:srgbClr val="475569"/>
                          </a:solidFill>
                          <a:latin typeface="Segoe UI"/>
                        </a:rPr>
                        <a:t>Run ResetDatabase.sql, then CreateTables.sql, then SeedData.sql via sqlcmd against Docker SQL Server (script path, not the app)</a:t>
                      </a:r>
                    </a:p>
                  </a:txBody>
                  <a:tcPr anchor="ctr" marL="76200" marR="76200">
                    <a:solidFill>
                      <a:srgbClr val="F1F5F9"/>
                    </a:solidFill>
                  </a:tcPr>
                </a:tc>
                <a:tc>
                  <a:txBody>
                    <a:bodyPr wrap="square"/>
                    <a:lstStyle/>
                    <a:p>
                      <a:r>
                        <a:rPr sz="950" b="1">
                          <a:solidFill>
                            <a:srgbClr val="16A34A"/>
                          </a:solidFill>
                          <a:latin typeface="Segoe UI"/>
                        </a:rPr>
                        <a:t>Pass</a:t>
                      </a:r>
                    </a:p>
                  </a:txBody>
                  <a:tcPr anchor="ctr" marL="76200" marR="76200">
                    <a:solidFill>
                      <a:srgbClr val="F1F5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52044"/>
            <a:ext cx="164592" cy="164592"/>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0"/>
            <a:ext cx="10874959" cy="868680"/>
          </a:xfrm>
          <a:prstGeom prst="rect">
            <a:avLst/>
          </a:prstGeom>
          <a:noFill/>
        </p:spPr>
        <p:txBody>
          <a:bodyPr wrap="square" lIns="0" rIns="0" tIns="0" bIns="0" anchor="ctr">
            <a:spAutoFit/>
          </a:bodyPr>
          <a:lstStyle/>
          <a:p>
            <a:pPr algn="l">
              <a:lnSpc>
                <a:spcPct val="100000"/>
              </a:lnSpc>
            </a:pPr>
            <a:r>
              <a:rPr sz="2700" b="1" i="0">
                <a:solidFill>
                  <a:srgbClr val="FFFFFF"/>
                </a:solidFill>
                <a:latin typeface="Segoe UI"/>
              </a:rPr>
              <a:t>Conclusion &amp; Future Scope</a:t>
            </a:r>
          </a:p>
        </p:txBody>
      </p:sp>
      <p:sp>
        <p:nvSpPr>
          <p:cNvPr id="6" name="TextBox 5"/>
          <p:cNvSpPr txBox="1"/>
          <p:nvPr/>
        </p:nvSpPr>
        <p:spPr>
          <a:xfrm>
            <a:off x="11002975" y="6492240"/>
            <a:ext cx="868680" cy="274320"/>
          </a:xfrm>
          <a:prstGeom prst="rect">
            <a:avLst/>
          </a:prstGeom>
          <a:noFill/>
        </p:spPr>
        <p:txBody>
          <a:bodyPr wrap="square" lIns="0" rIns="0" tIns="0" bIns="0" anchor="t">
            <a:spAutoFit/>
          </a:bodyPr>
          <a:lstStyle/>
          <a:p>
            <a:pPr algn="r">
              <a:lnSpc>
                <a:spcPct val="100000"/>
              </a:lnSpc>
            </a:pPr>
            <a:r>
              <a:rPr sz="1000" b="0" i="0">
                <a:solidFill>
                  <a:srgbClr val="94A3B8"/>
                </a:solidFill>
                <a:latin typeface="Segoe UI"/>
              </a:rPr>
              <a:t>15 / 17</a:t>
            </a:r>
          </a:p>
        </p:txBody>
      </p:sp>
      <p:sp>
        <p:nvSpPr>
          <p:cNvPr id="7" name="TextBox 6"/>
          <p:cNvSpPr txBox="1"/>
          <p:nvPr/>
        </p:nvSpPr>
        <p:spPr>
          <a:xfrm>
            <a:off x="502920" y="1463040"/>
            <a:ext cx="5364327" cy="365760"/>
          </a:xfrm>
          <a:prstGeom prst="rect">
            <a:avLst/>
          </a:prstGeom>
          <a:noFill/>
        </p:spPr>
        <p:txBody>
          <a:bodyPr wrap="square" lIns="0" rIns="0" tIns="0" bIns="0" anchor="t">
            <a:spAutoFit/>
          </a:bodyPr>
          <a:lstStyle/>
          <a:p>
            <a:pPr algn="l">
              <a:lnSpc>
                <a:spcPct val="100000"/>
              </a:lnSpc>
            </a:pPr>
            <a:r>
              <a:rPr sz="1600" b="1" i="0">
                <a:solidFill>
                  <a:srgbClr val="0D9488"/>
                </a:solidFill>
                <a:latin typeface="Segoe UI"/>
              </a:rPr>
              <a:t>What We Built</a:t>
            </a:r>
          </a:p>
        </p:txBody>
      </p:sp>
      <p:sp>
        <p:nvSpPr>
          <p:cNvPr id="8" name="TextBox 7"/>
          <p:cNvSpPr txBox="1"/>
          <p:nvPr/>
        </p:nvSpPr>
        <p:spPr>
          <a:xfrm>
            <a:off x="502920" y="1920240"/>
            <a:ext cx="5364327" cy="3291840"/>
          </a:xfrm>
          <a:prstGeom prst="rect">
            <a:avLst/>
          </a:prstGeom>
          <a:noFill/>
        </p:spPr>
        <p:txBody>
          <a:bodyPr wrap="square" lIns="0" rIns="0" tIns="0" bIns="0">
            <a:spAutoFit/>
          </a:bodyPr>
          <a:lstStyle/>
          <a:p>
            <a:pPr>
              <a:lnSpc>
                <a:spcPct val="110000"/>
              </a:lnSpc>
              <a:spcAft>
                <a:spcPts val="1200"/>
              </a:spcAft>
            </a:pPr>
            <a:r>
              <a:rPr sz="1350" b="1">
                <a:solidFill>
                  <a:srgbClr val="0D9488"/>
                </a:solidFill>
                <a:latin typeface="Segoe UI"/>
              </a:rPr>
              <a:t>•  </a:t>
            </a:r>
            <a:r>
              <a:rPr sz="1350">
                <a:solidFill>
                  <a:srgbClr val="E2E8F0"/>
                </a:solidFill>
                <a:latin typeface="Segoe UI"/>
              </a:rPr>
              <a:t>A working 3-tier system: Console app, ASP.NET Core MVC web app, and a PWA.</a:t>
            </a:r>
          </a:p>
          <a:p>
            <a:pPr>
              <a:lnSpc>
                <a:spcPct val="110000"/>
              </a:lnSpc>
              <a:spcAft>
                <a:spcPts val="1200"/>
              </a:spcAft>
            </a:pPr>
            <a:r>
              <a:rPr sz="1350" b="1">
                <a:solidFill>
                  <a:srgbClr val="0D9488"/>
                </a:solidFill>
                <a:latin typeface="Segoe UI"/>
              </a:rPr>
              <a:t>•  </a:t>
            </a:r>
            <a:r>
              <a:rPr sz="1350">
                <a:solidFill>
                  <a:srgbClr val="E2E8F0"/>
                </a:solidFill>
                <a:latin typeface="Segoe UI"/>
              </a:rPr>
              <a:t>Validated stock workflows with full transaction history and audit trail.</a:t>
            </a:r>
          </a:p>
          <a:p>
            <a:pPr>
              <a:lnSpc>
                <a:spcPct val="110000"/>
              </a:lnSpc>
              <a:spcAft>
                <a:spcPts val="1200"/>
              </a:spcAft>
            </a:pPr>
            <a:r>
              <a:rPr sz="1350" b="1">
                <a:solidFill>
                  <a:srgbClr val="0D9488"/>
                </a:solidFill>
                <a:latin typeface="Segoe UI"/>
              </a:rPr>
              <a:t>•  </a:t>
            </a:r>
            <a:r>
              <a:rPr sz="1350">
                <a:solidFill>
                  <a:srgbClr val="E2E8F0"/>
                </a:solidFill>
                <a:latin typeface="Segoe UI"/>
              </a:rPr>
              <a:t>Role-based security, live dashboards and five printable reports.</a:t>
            </a:r>
          </a:p>
          <a:p>
            <a:pPr>
              <a:lnSpc>
                <a:spcPct val="110000"/>
              </a:lnSpc>
              <a:spcAft>
                <a:spcPts val="1200"/>
              </a:spcAft>
            </a:pPr>
            <a:r>
              <a:rPr sz="1350" b="1">
                <a:solidFill>
                  <a:srgbClr val="0D9488"/>
                </a:solidFill>
                <a:latin typeface="Segoe UI"/>
              </a:rPr>
              <a:t>•  </a:t>
            </a:r>
            <a:r>
              <a:rPr sz="1350">
                <a:solidFill>
                  <a:srgbClr val="E2E8F0"/>
                </a:solidFill>
                <a:latin typeface="Segoe UI"/>
              </a:rPr>
              <a:t>A normalised SQL Server schema seeded with realistic demo data.</a:t>
            </a:r>
          </a:p>
        </p:txBody>
      </p:sp>
      <p:sp>
        <p:nvSpPr>
          <p:cNvPr id="9" name="TextBox 8"/>
          <p:cNvSpPr txBox="1"/>
          <p:nvPr/>
        </p:nvSpPr>
        <p:spPr>
          <a:xfrm>
            <a:off x="6324447" y="1463040"/>
            <a:ext cx="5364327" cy="365760"/>
          </a:xfrm>
          <a:prstGeom prst="rect">
            <a:avLst/>
          </a:prstGeom>
          <a:noFill/>
        </p:spPr>
        <p:txBody>
          <a:bodyPr wrap="square" lIns="0" rIns="0" tIns="0" bIns="0" anchor="t">
            <a:spAutoFit/>
          </a:bodyPr>
          <a:lstStyle/>
          <a:p>
            <a:pPr algn="l">
              <a:lnSpc>
                <a:spcPct val="100000"/>
              </a:lnSpc>
            </a:pPr>
            <a:r>
              <a:rPr sz="1600" b="1" i="0">
                <a:solidFill>
                  <a:srgbClr val="0D9488"/>
                </a:solidFill>
                <a:latin typeface="Segoe UI"/>
              </a:rPr>
              <a:t>Future Scope</a:t>
            </a:r>
          </a:p>
        </p:txBody>
      </p:sp>
      <p:sp>
        <p:nvSpPr>
          <p:cNvPr id="10" name="TextBox 9"/>
          <p:cNvSpPr txBox="1"/>
          <p:nvPr/>
        </p:nvSpPr>
        <p:spPr>
          <a:xfrm>
            <a:off x="6324447" y="1920240"/>
            <a:ext cx="5364327" cy="3291840"/>
          </a:xfrm>
          <a:prstGeom prst="rect">
            <a:avLst/>
          </a:prstGeom>
          <a:noFill/>
        </p:spPr>
        <p:txBody>
          <a:bodyPr wrap="square" lIns="0" rIns="0" tIns="0" bIns="0">
            <a:spAutoFit/>
          </a:bodyPr>
          <a:lstStyle/>
          <a:p>
            <a:pPr>
              <a:lnSpc>
                <a:spcPct val="110000"/>
              </a:lnSpc>
              <a:spcAft>
                <a:spcPts val="1200"/>
              </a:spcAft>
            </a:pPr>
            <a:r>
              <a:rPr sz="1350" b="1">
                <a:solidFill>
                  <a:srgbClr val="0D9488"/>
                </a:solidFill>
                <a:latin typeface="Segoe UI"/>
              </a:rPr>
              <a:t>•  </a:t>
            </a:r>
            <a:r>
              <a:rPr sz="1350">
                <a:solidFill>
                  <a:srgbClr val="E2E8F0"/>
                </a:solidFill>
                <a:latin typeface="Segoe UI"/>
              </a:rPr>
              <a:t>Barcode / QR scanning for faster Stock In &amp; Stock Out.</a:t>
            </a:r>
          </a:p>
          <a:p>
            <a:pPr>
              <a:lnSpc>
                <a:spcPct val="110000"/>
              </a:lnSpc>
              <a:spcAft>
                <a:spcPts val="1200"/>
              </a:spcAft>
            </a:pPr>
            <a:r>
              <a:rPr sz="1350" b="1">
                <a:solidFill>
                  <a:srgbClr val="0D9488"/>
                </a:solidFill>
                <a:latin typeface="Segoe UI"/>
              </a:rPr>
              <a:t>•  </a:t>
            </a:r>
            <a:r>
              <a:rPr sz="1350">
                <a:solidFill>
                  <a:srgbClr val="E2E8F0"/>
                </a:solidFill>
                <a:latin typeface="Segoe UI"/>
              </a:rPr>
              <a:t>Purchase-order workflow tying supplier orders to Stock In.</a:t>
            </a:r>
          </a:p>
          <a:p>
            <a:pPr>
              <a:lnSpc>
                <a:spcPct val="110000"/>
              </a:lnSpc>
              <a:spcAft>
                <a:spcPts val="1200"/>
              </a:spcAft>
            </a:pPr>
            <a:r>
              <a:rPr sz="1350" b="1">
                <a:solidFill>
                  <a:srgbClr val="0D9488"/>
                </a:solidFill>
                <a:latin typeface="Segoe UI"/>
              </a:rPr>
              <a:t>•  </a:t>
            </a:r>
            <a:r>
              <a:rPr sz="1350">
                <a:solidFill>
                  <a:srgbClr val="E2E8F0"/>
                </a:solidFill>
                <a:latin typeface="Segoe UI"/>
              </a:rPr>
              <a:t>Multi-branch / multi-warehouse inventory support.</a:t>
            </a:r>
          </a:p>
          <a:p>
            <a:pPr>
              <a:lnSpc>
                <a:spcPct val="110000"/>
              </a:lnSpc>
              <a:spcAft>
                <a:spcPts val="1200"/>
              </a:spcAft>
            </a:pPr>
            <a:r>
              <a:rPr sz="1350" b="1">
                <a:solidFill>
                  <a:srgbClr val="0D9488"/>
                </a:solidFill>
                <a:latin typeface="Segoe UI"/>
              </a:rPr>
              <a:t>•  </a:t>
            </a:r>
            <a:r>
              <a:rPr sz="1350">
                <a:solidFill>
                  <a:srgbClr val="E2E8F0"/>
                </a:solidFill>
                <a:latin typeface="Segoe UI"/>
              </a:rPr>
              <a:t>Push notifications and richer analytics on the PWA.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5394960"/>
            <a:ext cx="2377440" cy="2377440"/>
          </a:xfrm>
          <a:prstGeom prst="roundRect">
            <a:avLst>
              <a:gd name="adj" fmla="val 50000"/>
            </a:avLst>
          </a:prstGeom>
          <a:solidFill>
            <a:srgbClr val="164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728655" y="-914400"/>
            <a:ext cx="2377440" cy="2377440"/>
          </a:xfrm>
          <a:prstGeom prst="roundRect">
            <a:avLst>
              <a:gd name="adj" fmla="val 50000"/>
            </a:avLst>
          </a:prstGeom>
          <a:solidFill>
            <a:srgbClr val="164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468880"/>
            <a:ext cx="12191695" cy="914400"/>
          </a:xfrm>
          <a:prstGeom prst="rect">
            <a:avLst/>
          </a:prstGeom>
          <a:noFill/>
        </p:spPr>
        <p:txBody>
          <a:bodyPr wrap="square" lIns="0" rIns="0" tIns="0" bIns="0" anchor="t">
            <a:spAutoFit/>
          </a:bodyPr>
          <a:lstStyle/>
          <a:p>
            <a:pPr algn="ctr">
              <a:lnSpc>
                <a:spcPct val="100000"/>
              </a:lnSpc>
            </a:pPr>
            <a:r>
              <a:rPr sz="4800" b="1" i="0">
                <a:solidFill>
                  <a:srgbClr val="FFFFFF"/>
                </a:solidFill>
                <a:latin typeface="Segoe UI"/>
              </a:rPr>
              <a:t>Thank You</a:t>
            </a:r>
          </a:p>
        </p:txBody>
      </p:sp>
      <p:sp>
        <p:nvSpPr>
          <p:cNvPr id="6" name="TextBox 5"/>
          <p:cNvSpPr txBox="1"/>
          <p:nvPr/>
        </p:nvSpPr>
        <p:spPr>
          <a:xfrm>
            <a:off x="0" y="3337560"/>
            <a:ext cx="12191695" cy="548640"/>
          </a:xfrm>
          <a:prstGeom prst="rect">
            <a:avLst/>
          </a:prstGeom>
          <a:noFill/>
        </p:spPr>
        <p:txBody>
          <a:bodyPr wrap="square" lIns="0" rIns="0" tIns="0" bIns="0" anchor="t">
            <a:spAutoFit/>
          </a:bodyPr>
          <a:lstStyle/>
          <a:p>
            <a:pPr algn="ctr">
              <a:lnSpc>
                <a:spcPct val="100000"/>
              </a:lnSpc>
            </a:pPr>
            <a:r>
              <a:rPr sz="2200" b="0" i="0">
                <a:solidFill>
                  <a:srgbClr val="0D9488"/>
                </a:solidFill>
                <a:latin typeface="Segoe UI"/>
              </a:rPr>
              <a:t>Questions?</a:t>
            </a:r>
          </a:p>
        </p:txBody>
      </p:sp>
      <p:sp>
        <p:nvSpPr>
          <p:cNvPr id="7" name="TextBox 6"/>
          <p:cNvSpPr txBox="1"/>
          <p:nvPr/>
        </p:nvSpPr>
        <p:spPr>
          <a:xfrm>
            <a:off x="0" y="6035040"/>
            <a:ext cx="12191695" cy="365760"/>
          </a:xfrm>
          <a:prstGeom prst="rect">
            <a:avLst/>
          </a:prstGeom>
          <a:noFill/>
        </p:spPr>
        <p:txBody>
          <a:bodyPr wrap="square" lIns="0" rIns="0" tIns="0" bIns="0" anchor="t">
            <a:spAutoFit/>
          </a:bodyPr>
          <a:lstStyle/>
          <a:p>
            <a:pPr algn="ctr">
              <a:lnSpc>
                <a:spcPct val="100000"/>
              </a:lnSpc>
            </a:pPr>
            <a:r>
              <a:rPr sz="1200" b="0" i="0">
                <a:solidFill>
                  <a:srgbClr val="94A3B8"/>
                </a:solidFill>
                <a:latin typeface="Segoe UI"/>
              </a:rPr>
              <a:t>StockPilot — Inventory Management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